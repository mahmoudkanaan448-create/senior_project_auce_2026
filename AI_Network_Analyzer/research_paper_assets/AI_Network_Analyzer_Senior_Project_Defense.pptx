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220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3 seconds. State your name, AUCE, and the project as an NDR platform — not only a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order as the research paper. Chapter 1 to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list tools. State the pain: signatures miss novelty; NDR is expensive; labs have no SOC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AUCE should care: a teaching-grade NDR that is implemented, not only designed.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left then right. Each pain has a matching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same six objectives as Table 2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sentence: a local NDR that detects with hybrid AI and operates like a mini SOC.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against Snort, Wazuh, and cloud NDR. Your gap is integration + hybrid AI + local SOC.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'why us' slide. Four differences. Do not rush.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 to right. Click each stage. This is the backbone of the oral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hybrid: supervised + anomaly + deep + sequence + online learning that does not overwrite 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visual. Python is the spine. FastAPI + Streamlit + SQLite is the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each page and its job. Home through AI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Finish the 16. Tabs matter: SOC Ops, Settings, Reports, Assets, Hunting,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Administrator session. Home is page 01 — the operator glass.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NIC capture feeds hybrid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Simulation uses the real pipeline. TI is reputation plus geo.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Alerts are the analyst queue. Blocked IPs are the control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Models holds metrics and retrain. Reports: Detection, Incidents, Export, Compliance, Live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Settings tabs: General, Telegram, AI, NDR, Clear, Company. Incidents group alerts into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Assets: inventory, topology, UEBA. Hunting: query, PCAP,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SOC Ops tabs: MITRE, SOAR, online learning, server health, ML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Response: IOC, allow/block, approvals, webhooks, sensors. Copilot explains with stored XAI.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the numbers, then the disclaimer in the same breath. Honesty is a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Own the strengths. Then the weaknesses. The jury respects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bullets only. This is what you added beyond a model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scope before they ask. It signals academic maturity, not a weak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Vision is future work with a direction. Keep it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live demo fails, this slide is the backup story. Memorize the seven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sentences. Then stop.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read all. Point to the paper. Mention MITRE, CICIDS, XGBoost, 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Smile. Repeat the question. Answer in 30–40 seconds. Offer a live page if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uto_logo" descr="a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1234440" cy="1234440"/>
          </a:xfrm>
          <a:prstGeom prst="rect">
            <a:avLst/>
          </a:prstGeom>
        </p:spPr>
      </p:pic>
      <p:sp>
        <p:nvSpPr>
          <p:cNvPr id="6" name="auto_uni"/>
          <p:cNvSpPr txBox="1"/>
          <p:nvPr/>
        </p:nvSpPr>
        <p:spPr>
          <a:xfrm>
            <a:off x="1874519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C14B"/>
                </a:solidFill>
                <a:latin typeface="Calibri"/>
              </a:rPr>
              <a:t>AMERICAN UNIVERSITY OF CULTURE AND EDUCATION  ·  SENIOR PROJECT 2026</a:t>
            </a:r>
          </a:p>
        </p:txBody>
      </p:sp>
      <p:sp>
        <p:nvSpPr>
          <p:cNvPr id="7" name="auto_title"/>
          <p:cNvSpPr txBox="1"/>
          <p:nvPr/>
        </p:nvSpPr>
        <p:spPr>
          <a:xfrm>
            <a:off x="1874519" y="1508760"/>
            <a:ext cx="9784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Calibri"/>
              </a:rPr>
              <a:t>AI-Powered Network Traffic Analyser
&amp; Anomaly Detector</a:t>
            </a:r>
          </a:p>
        </p:txBody>
      </p:sp>
      <p:sp>
        <p:nvSpPr>
          <p:cNvPr id="8" name="auto_sub"/>
          <p:cNvSpPr txBox="1"/>
          <p:nvPr/>
        </p:nvSpPr>
        <p:spPr>
          <a:xfrm>
            <a:off x="1874519" y="2880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B8FF"/>
                </a:solidFill>
                <a:latin typeface="Calibri"/>
              </a:rPr>
              <a:t>NDR Platform v1.0.0  —  Detect  ·  Understand  ·  Respond  ·  Explain</a:t>
            </a:r>
          </a:p>
        </p:txBody>
      </p:sp>
      <p:sp>
        <p:nvSpPr>
          <p:cNvPr id="9" name="auto_rule"/>
          <p:cNvSpPr/>
          <p:nvPr/>
        </p:nvSpPr>
        <p:spPr>
          <a:xfrm>
            <a:off x="457200" y="3794760"/>
            <a:ext cx="11247120" cy="18288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ick_meta1"/>
          <p:cNvSpPr/>
          <p:nvPr/>
        </p:nvSpPr>
        <p:spPr>
          <a:xfrm>
            <a:off x="457200" y="41148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ith_click_meta1_bar"/>
          <p:cNvSpPr/>
          <p:nvPr/>
        </p:nvSpPr>
        <p:spPr>
          <a:xfrm>
            <a:off x="457200" y="4114800"/>
            <a:ext cx="64008" cy="155448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m1"/>
          <p:cNvSpPr txBox="1"/>
          <p:nvPr/>
        </p:nvSpPr>
        <p:spPr>
          <a:xfrm>
            <a:off x="685800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C14B"/>
                </a:solidFill>
                <a:latin typeface="Calibri"/>
              </a:rPr>
              <a:t>STUDENT</a:t>
            </a:r>
          </a:p>
        </p:txBody>
      </p:sp>
      <p:sp>
        <p:nvSpPr>
          <p:cNvPr id="13" name="with_m1b"/>
          <p:cNvSpPr txBox="1"/>
          <p:nvPr/>
        </p:nvSpPr>
        <p:spPr>
          <a:xfrm>
            <a:off x="685800" y="4617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Mahmoud Talal Kanaan
Computer Science</a:t>
            </a:r>
          </a:p>
        </p:txBody>
      </p:sp>
      <p:sp>
        <p:nvSpPr>
          <p:cNvPr id="14" name="click_meta2"/>
          <p:cNvSpPr/>
          <p:nvPr/>
        </p:nvSpPr>
        <p:spPr>
          <a:xfrm>
            <a:off x="4297680" y="41148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with_click_meta2_bar"/>
          <p:cNvSpPr/>
          <p:nvPr/>
        </p:nvSpPr>
        <p:spPr>
          <a:xfrm>
            <a:off x="4297680" y="4114800"/>
            <a:ext cx="64008" cy="155448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m2"/>
          <p:cNvSpPr txBox="1"/>
          <p:nvPr/>
        </p:nvSpPr>
        <p:spPr>
          <a:xfrm>
            <a:off x="4526280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C14B"/>
                </a:solidFill>
                <a:latin typeface="Calibri"/>
              </a:rPr>
              <a:t>SUPERVISOR</a:t>
            </a:r>
          </a:p>
        </p:txBody>
      </p:sp>
      <p:sp>
        <p:nvSpPr>
          <p:cNvPr id="17" name="with_m2b"/>
          <p:cNvSpPr txBox="1"/>
          <p:nvPr/>
        </p:nvSpPr>
        <p:spPr>
          <a:xfrm>
            <a:off x="4526280" y="4617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Dr. Hassan Noureddine
AUCE</a:t>
            </a:r>
          </a:p>
        </p:txBody>
      </p:sp>
      <p:sp>
        <p:nvSpPr>
          <p:cNvPr id="18" name="click_meta3"/>
          <p:cNvSpPr/>
          <p:nvPr/>
        </p:nvSpPr>
        <p:spPr>
          <a:xfrm>
            <a:off x="8138160" y="41148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ith_click_meta3_bar"/>
          <p:cNvSpPr/>
          <p:nvPr/>
        </p:nvSpPr>
        <p:spPr>
          <a:xfrm>
            <a:off x="8138160" y="4114800"/>
            <a:ext cx="64008" cy="155448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m3"/>
          <p:cNvSpPr txBox="1"/>
          <p:nvPr/>
        </p:nvSpPr>
        <p:spPr>
          <a:xfrm>
            <a:off x="8366760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C14B"/>
                </a:solidFill>
                <a:latin typeface="Calibri"/>
              </a:rPr>
              <a:t>DEFENSE</a:t>
            </a:r>
          </a:p>
        </p:txBody>
      </p:sp>
      <p:sp>
        <p:nvSpPr>
          <p:cNvPr id="21" name="with_m3b"/>
          <p:cNvSpPr txBox="1"/>
          <p:nvPr/>
        </p:nvSpPr>
        <p:spPr>
          <a:xfrm>
            <a:off x="8366760" y="4617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Implementation + Evaluation
Local SOC / NDR prototype</a:t>
            </a:r>
          </a:p>
        </p:txBody>
      </p:sp>
      <p:sp>
        <p:nvSpPr>
          <p:cNvPr id="22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Title  ·  AUCE 2026  ·  v1.0.0</a:t>
            </a:r>
          </a:p>
        </p:txBody>
      </p:sp>
      <p:sp>
        <p:nvSpPr>
          <p:cNvPr id="24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01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600"/>
                            </p:stCondLst>
                            <p:childTnLst>
                              <p:par>
                                <p:cTn id="11" presetID="22" presetClass="entr" presetSubtype="4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30"/>
                            </p:stCondLst>
                            <p:childTnLst>
                              <p:par>
                                <p:cTn id="15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125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460"/>
                            </p:stCondLst>
                            <p:childTnLst>
                              <p:par>
                                <p:cTn id="22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890"/>
                            </p:stCondLst>
                            <p:childTnLst>
                              <p:par>
                                <p:cTn id="31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320"/>
                            </p:stCondLst>
                            <p:childTnLst>
                              <p:par>
                                <p:cTn id="40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750"/>
                            </p:stCondLst>
                            <p:childTnLst>
                              <p:par>
                                <p:cTn id="58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180"/>
                            </p:stCondLst>
                            <p:childTnLst>
                              <p:par>
                                <p:cTn id="76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ROADMAP  ·  SAME CHAPTERS AS THE PAPER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The defense follows the thesis.</a:t>
            </a:r>
          </a:p>
        </p:txBody>
      </p:sp>
      <p:sp>
        <p:nvSpPr>
          <p:cNvPr id="7" name="click_ag0"/>
          <p:cNvSpPr/>
          <p:nvPr/>
        </p:nvSpPr>
        <p:spPr>
          <a:xfrm>
            <a:off x="411480" y="132588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ag0_bar"/>
          <p:cNvSpPr/>
          <p:nvPr/>
        </p:nvSpPr>
        <p:spPr>
          <a:xfrm>
            <a:off x="41148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ag0n"/>
          <p:cNvSpPr txBox="1"/>
          <p:nvPr/>
        </p:nvSpPr>
        <p:spPr>
          <a:xfrm>
            <a:off x="640080" y="1554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01</a:t>
            </a:r>
          </a:p>
        </p:txBody>
      </p:sp>
      <p:sp>
        <p:nvSpPr>
          <p:cNvPr id="10" name="with_ag0t"/>
          <p:cNvSpPr txBox="1"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Ch. 1 Introduction</a:t>
            </a:r>
          </a:p>
        </p:txBody>
      </p:sp>
      <p:sp>
        <p:nvSpPr>
          <p:cNvPr id="11" name="with_ag0s"/>
          <p:cNvSpPr txBox="1"/>
          <p:nvPr/>
        </p:nvSpPr>
        <p:spPr>
          <a:xfrm>
            <a:off x="640080" y="26060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Problem, objectives O1–O6, proposed solution</a:t>
            </a:r>
          </a:p>
        </p:txBody>
      </p:sp>
      <p:sp>
        <p:nvSpPr>
          <p:cNvPr id="12" name="click_ag1"/>
          <p:cNvSpPr/>
          <p:nvPr/>
        </p:nvSpPr>
        <p:spPr>
          <a:xfrm>
            <a:off x="4251960" y="132588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click_ag1_bar"/>
          <p:cNvSpPr/>
          <p:nvPr/>
        </p:nvSpPr>
        <p:spPr>
          <a:xfrm>
            <a:off x="425196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ith_ag1n"/>
          <p:cNvSpPr txBox="1"/>
          <p:nvPr/>
        </p:nvSpPr>
        <p:spPr>
          <a:xfrm>
            <a:off x="4480560" y="1554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02</a:t>
            </a:r>
          </a:p>
        </p:txBody>
      </p:sp>
      <p:sp>
        <p:nvSpPr>
          <p:cNvPr id="15" name="with_ag1t"/>
          <p:cNvSpPr txBox="1"/>
          <p:nvPr/>
        </p:nvSpPr>
        <p:spPr>
          <a:xfrm>
            <a:off x="448056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Ch. 2 Literature</a:t>
            </a:r>
          </a:p>
        </p:txBody>
      </p:sp>
      <p:sp>
        <p:nvSpPr>
          <p:cNvPr id="16" name="with_ag1s"/>
          <p:cNvSpPr txBox="1"/>
          <p:nvPr/>
        </p:nvSpPr>
        <p:spPr>
          <a:xfrm>
            <a:off x="4480560" y="26060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Twenty platforms and the remaining gap</a:t>
            </a:r>
          </a:p>
        </p:txBody>
      </p:sp>
      <p:sp>
        <p:nvSpPr>
          <p:cNvPr id="17" name="click_ag2"/>
          <p:cNvSpPr/>
          <p:nvPr/>
        </p:nvSpPr>
        <p:spPr>
          <a:xfrm>
            <a:off x="8092440" y="132588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th_click_ag2_bar"/>
          <p:cNvSpPr/>
          <p:nvPr/>
        </p:nvSpPr>
        <p:spPr>
          <a:xfrm>
            <a:off x="809244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ith_ag2n"/>
          <p:cNvSpPr txBox="1"/>
          <p:nvPr/>
        </p:nvSpPr>
        <p:spPr>
          <a:xfrm>
            <a:off x="8321040" y="1554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03</a:t>
            </a:r>
          </a:p>
        </p:txBody>
      </p:sp>
      <p:sp>
        <p:nvSpPr>
          <p:cNvPr id="20" name="with_ag2t"/>
          <p:cNvSpPr txBox="1"/>
          <p:nvPr/>
        </p:nvSpPr>
        <p:spPr>
          <a:xfrm>
            <a:off x="832104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Ch. 3 Architecture</a:t>
            </a:r>
          </a:p>
        </p:txBody>
      </p:sp>
      <p:sp>
        <p:nvSpPr>
          <p:cNvPr id="21" name="with_ag2s"/>
          <p:cNvSpPr txBox="1"/>
          <p:nvPr/>
        </p:nvSpPr>
        <p:spPr>
          <a:xfrm>
            <a:off x="8321040" y="26060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Pipeline, hybrid AI, MITRE, SOAR</a:t>
            </a:r>
          </a:p>
        </p:txBody>
      </p:sp>
      <p:sp>
        <p:nvSpPr>
          <p:cNvPr id="22" name="click_ag3"/>
          <p:cNvSpPr/>
          <p:nvPr/>
        </p:nvSpPr>
        <p:spPr>
          <a:xfrm>
            <a:off x="411480" y="3657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ith_click_ag3_bar"/>
          <p:cNvSpPr/>
          <p:nvPr/>
        </p:nvSpPr>
        <p:spPr>
          <a:xfrm>
            <a:off x="411480" y="365760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ith_ag3n"/>
          <p:cNvSpPr txBox="1"/>
          <p:nvPr/>
        </p:nvSpPr>
        <p:spPr>
          <a:xfrm>
            <a:off x="64008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04</a:t>
            </a:r>
          </a:p>
        </p:txBody>
      </p:sp>
      <p:sp>
        <p:nvSpPr>
          <p:cNvPr id="25" name="with_ag3t"/>
          <p:cNvSpPr txBox="1"/>
          <p:nvPr/>
        </p:nvSpPr>
        <p:spPr>
          <a:xfrm>
            <a:off x="640080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Ch. 4 Implementation</a:t>
            </a:r>
          </a:p>
        </p:txBody>
      </p:sp>
      <p:sp>
        <p:nvSpPr>
          <p:cNvPr id="26" name="with_ag3s"/>
          <p:cNvSpPr txBox="1"/>
          <p:nvPr/>
        </p:nvSpPr>
        <p:spPr>
          <a:xfrm>
            <a:off x="640080" y="4937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Stack and all 16 SOC pages</a:t>
            </a:r>
          </a:p>
        </p:txBody>
      </p:sp>
      <p:sp>
        <p:nvSpPr>
          <p:cNvPr id="27" name="click_ag4"/>
          <p:cNvSpPr/>
          <p:nvPr/>
        </p:nvSpPr>
        <p:spPr>
          <a:xfrm>
            <a:off x="4251960" y="3657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ith_click_ag4_bar"/>
          <p:cNvSpPr/>
          <p:nvPr/>
        </p:nvSpPr>
        <p:spPr>
          <a:xfrm>
            <a:off x="4251960" y="365760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ith_ag4n"/>
          <p:cNvSpPr txBox="1"/>
          <p:nvPr/>
        </p:nvSpPr>
        <p:spPr>
          <a:xfrm>
            <a:off x="448056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05</a:t>
            </a:r>
          </a:p>
        </p:txBody>
      </p:sp>
      <p:sp>
        <p:nvSpPr>
          <p:cNvPr id="30" name="with_ag4t"/>
          <p:cNvSpPr txBox="1"/>
          <p:nvPr/>
        </p:nvSpPr>
        <p:spPr>
          <a:xfrm>
            <a:off x="4480560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Ch. 5 Evaluation</a:t>
            </a:r>
          </a:p>
        </p:txBody>
      </p:sp>
      <p:sp>
        <p:nvSpPr>
          <p:cNvPr id="31" name="with_ag4s"/>
          <p:cNvSpPr txBox="1"/>
          <p:nvPr/>
        </p:nvSpPr>
        <p:spPr>
          <a:xfrm>
            <a:off x="4480560" y="4937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12,000-row holdout — Table 9 / Table 11</a:t>
            </a:r>
          </a:p>
        </p:txBody>
      </p:sp>
      <p:sp>
        <p:nvSpPr>
          <p:cNvPr id="32" name="click_ag5"/>
          <p:cNvSpPr/>
          <p:nvPr/>
        </p:nvSpPr>
        <p:spPr>
          <a:xfrm>
            <a:off x="8092440" y="365760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ith_click_ag5_bar"/>
          <p:cNvSpPr/>
          <p:nvPr/>
        </p:nvSpPr>
        <p:spPr>
          <a:xfrm>
            <a:off x="8092440" y="365760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ith_ag5n"/>
          <p:cNvSpPr txBox="1"/>
          <p:nvPr/>
        </p:nvSpPr>
        <p:spPr>
          <a:xfrm>
            <a:off x="832104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06</a:t>
            </a:r>
          </a:p>
        </p:txBody>
      </p:sp>
      <p:sp>
        <p:nvSpPr>
          <p:cNvPr id="35" name="with_ag5t"/>
          <p:cNvSpPr txBox="1"/>
          <p:nvPr/>
        </p:nvSpPr>
        <p:spPr>
          <a:xfrm>
            <a:off x="8321040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Ch. 6–8 Close</a:t>
            </a:r>
          </a:p>
        </p:txBody>
      </p:sp>
      <p:sp>
        <p:nvSpPr>
          <p:cNvPr id="36" name="with_ag5s"/>
          <p:cNvSpPr txBox="1"/>
          <p:nvPr/>
        </p:nvSpPr>
        <p:spPr>
          <a:xfrm>
            <a:off x="8321040" y="4937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Deploy, limits, demo, conclusion</a:t>
            </a:r>
          </a:p>
        </p:txBody>
      </p:sp>
      <p:sp>
        <p:nvSpPr>
          <p:cNvPr id="37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Agenda  ·  AUCE 2026  ·  v1.0.0</a:t>
            </a:r>
          </a:p>
        </p:txBody>
      </p:sp>
      <p:sp>
        <p:nvSpPr>
          <p:cNvPr id="39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02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60"/>
                            </p:stCondLst>
                            <p:childTnLst>
                              <p:par>
                                <p:cTn id="34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890"/>
                            </p:stCondLst>
                            <p:childTnLst>
                              <p:par>
                                <p:cTn id="52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320"/>
                            </p:stCondLst>
                            <p:childTnLst>
                              <p:par>
                                <p:cTn id="70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750"/>
                            </p:stCondLst>
                            <p:childTnLst>
                              <p:par>
                                <p:cTn id="88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180"/>
                            </p:stCondLst>
                            <p:childTnLst>
                              <p:par>
                                <p:cTn id="106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1  ·  INTRODUCTION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Attacks are live. Most student labs still watch logs.</a:t>
            </a:r>
          </a:p>
        </p:txBody>
      </p:sp>
      <p:sp>
        <p:nvSpPr>
          <p:cNvPr id="7" name="click_p0"/>
          <p:cNvSpPr/>
          <p:nvPr/>
        </p:nvSpPr>
        <p:spPr>
          <a:xfrm>
            <a:off x="411480" y="1325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p0_bar"/>
          <p:cNvSpPr/>
          <p:nvPr/>
        </p:nvSpPr>
        <p:spPr>
          <a:xfrm>
            <a:off x="41148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p0t"/>
          <p:cNvSpPr txBox="1"/>
          <p:nvPr/>
        </p:nvSpPr>
        <p:spPr>
          <a:xfrm>
            <a:off x="68580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Signature IDS</a:t>
            </a:r>
          </a:p>
        </p:txBody>
      </p:sp>
      <p:sp>
        <p:nvSpPr>
          <p:cNvPr id="10" name="with_p0b"/>
          <p:cNvSpPr txBox="1"/>
          <p:nvPr/>
        </p:nvSpPr>
        <p:spPr>
          <a:xfrm>
            <a:off x="685800" y="2194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Snort-style rules fail on unseen variants and encrypted or novel campaigns.</a:t>
            </a:r>
          </a:p>
        </p:txBody>
      </p:sp>
      <p:sp>
        <p:nvSpPr>
          <p:cNvPr id="11" name="click_p1"/>
          <p:cNvSpPr/>
          <p:nvPr/>
        </p:nvSpPr>
        <p:spPr>
          <a:xfrm>
            <a:off x="6263640" y="1325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click_p1_bar"/>
          <p:cNvSpPr/>
          <p:nvPr/>
        </p:nvSpPr>
        <p:spPr>
          <a:xfrm>
            <a:off x="626364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p1t"/>
          <p:cNvSpPr txBox="1"/>
          <p:nvPr/>
        </p:nvSpPr>
        <p:spPr>
          <a:xfrm>
            <a:off x="653796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AI without SOC</a:t>
            </a:r>
          </a:p>
        </p:txBody>
      </p:sp>
      <p:sp>
        <p:nvSpPr>
          <p:cNvPr id="14" name="with_p1b"/>
          <p:cNvSpPr txBox="1"/>
          <p:nvPr/>
        </p:nvSpPr>
        <p:spPr>
          <a:xfrm>
            <a:off x="6537960" y="2194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A classifier that cannot alert, ticket, hunt, or block is not operations.</a:t>
            </a:r>
          </a:p>
        </p:txBody>
      </p:sp>
      <p:sp>
        <p:nvSpPr>
          <p:cNvPr id="15" name="click_p2"/>
          <p:cNvSpPr/>
          <p:nvPr/>
        </p:nvSpPr>
        <p:spPr>
          <a:xfrm>
            <a:off x="411480" y="3611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click_p2_bar"/>
          <p:cNvSpPr/>
          <p:nvPr/>
        </p:nvSpPr>
        <p:spPr>
          <a:xfrm>
            <a:off x="411480" y="3611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p2t"/>
          <p:cNvSpPr txBox="1"/>
          <p:nvPr/>
        </p:nvSpPr>
        <p:spPr>
          <a:xfrm>
            <a:off x="68580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Enterprise NDR cost</a:t>
            </a:r>
          </a:p>
        </p:txBody>
      </p:sp>
      <p:sp>
        <p:nvSpPr>
          <p:cNvPr id="18" name="with_p2b"/>
          <p:cNvSpPr txBox="1"/>
          <p:nvPr/>
        </p:nvSpPr>
        <p:spPr>
          <a:xfrm>
            <a:off x="685800" y="4480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Commercial platforms are out of reach for labs, SMEs, and teaching.</a:t>
            </a:r>
          </a:p>
        </p:txBody>
      </p:sp>
      <p:sp>
        <p:nvSpPr>
          <p:cNvPr id="19" name="click_p3"/>
          <p:cNvSpPr/>
          <p:nvPr/>
        </p:nvSpPr>
        <p:spPr>
          <a:xfrm>
            <a:off x="6263640" y="3611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click_p3_bar"/>
          <p:cNvSpPr/>
          <p:nvPr/>
        </p:nvSpPr>
        <p:spPr>
          <a:xfrm>
            <a:off x="6263640" y="3611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p3t"/>
          <p:cNvSpPr txBox="1"/>
          <p:nvPr/>
        </p:nvSpPr>
        <p:spPr>
          <a:xfrm>
            <a:off x="653796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Broken loop</a:t>
            </a:r>
          </a:p>
        </p:txBody>
      </p:sp>
      <p:sp>
        <p:nvSpPr>
          <p:cNvPr id="22" name="with_p3b"/>
          <p:cNvSpPr txBox="1"/>
          <p:nvPr/>
        </p:nvSpPr>
        <p:spPr>
          <a:xfrm>
            <a:off x="6537960" y="4480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Capture, detect, notify, and respond usually live in separate products.</a:t>
            </a:r>
          </a:p>
        </p:txBody>
      </p:sp>
      <p:sp>
        <p:nvSpPr>
          <p:cNvPr id="2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Problem  ·  AUCE 2026  ·  v1.0.0</a:t>
            </a:r>
          </a:p>
        </p:txBody>
      </p:sp>
      <p:sp>
        <p:nvSpPr>
          <p:cNvPr id="2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03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460"/>
                            </p:stCondLst>
                            <p:childTnLst>
                              <p:par>
                                <p:cTn id="27" presetID="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90"/>
                            </p:stCondLst>
                            <p:childTnLst>
                              <p:par>
                                <p:cTn id="41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320"/>
                            </p:stCondLst>
                            <p:childTnLst>
                              <p:par>
                                <p:cTn id="55" presetID="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1  ·  WHY THIS PROJECT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Build a SOC you can run on a laptop — and defend with evidence.</a:t>
            </a:r>
          </a:p>
        </p:txBody>
      </p:sp>
      <p:sp>
        <p:nvSpPr>
          <p:cNvPr id="7" name="click_mot0"/>
          <p:cNvSpPr/>
          <p:nvPr/>
        </p:nvSpPr>
        <p:spPr>
          <a:xfrm>
            <a:off x="411480" y="128016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mot0_bar"/>
          <p:cNvSpPr/>
          <p:nvPr/>
        </p:nvSpPr>
        <p:spPr>
          <a:xfrm>
            <a:off x="411480" y="1280160"/>
            <a:ext cx="64008" cy="10515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mot0t"/>
          <p:cNvSpPr txBox="1"/>
          <p:nvPr/>
        </p:nvSpPr>
        <p:spPr>
          <a:xfrm>
            <a:off x="685800" y="13898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Academic need</a:t>
            </a:r>
          </a:p>
        </p:txBody>
      </p:sp>
      <p:sp>
        <p:nvSpPr>
          <p:cNvPr id="10" name="with_mot0b"/>
          <p:cNvSpPr txBox="1"/>
          <p:nvPr/>
        </p:nvSpPr>
        <p:spPr>
          <a:xfrm>
            <a:off x="685800" y="175564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Supervisor guidance: move from design-only writing to a running system plus evaluation.</a:t>
            </a:r>
          </a:p>
        </p:txBody>
      </p:sp>
      <p:sp>
        <p:nvSpPr>
          <p:cNvPr id="11" name="click_mot1"/>
          <p:cNvSpPr/>
          <p:nvPr/>
        </p:nvSpPr>
        <p:spPr>
          <a:xfrm>
            <a:off x="411480" y="246888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click_mot1_bar"/>
          <p:cNvSpPr/>
          <p:nvPr/>
        </p:nvSpPr>
        <p:spPr>
          <a:xfrm>
            <a:off x="411480" y="2468880"/>
            <a:ext cx="64008" cy="10515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mot1t"/>
          <p:cNvSpPr txBox="1"/>
          <p:nvPr/>
        </p:nvSpPr>
        <p:spPr>
          <a:xfrm>
            <a:off x="685800" y="2578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Operational need</a:t>
            </a:r>
          </a:p>
        </p:txBody>
      </p:sp>
      <p:sp>
        <p:nvSpPr>
          <p:cNvPr id="14" name="with_mot1b"/>
          <p:cNvSpPr txBox="1"/>
          <p:nvPr/>
        </p:nvSpPr>
        <p:spPr>
          <a:xfrm>
            <a:off x="685800" y="29443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Analysts need one glass: traffic, detections, incidents, hunting, and response.</a:t>
            </a:r>
          </a:p>
        </p:txBody>
      </p:sp>
      <p:sp>
        <p:nvSpPr>
          <p:cNvPr id="15" name="click_mot2"/>
          <p:cNvSpPr/>
          <p:nvPr/>
        </p:nvSpPr>
        <p:spPr>
          <a:xfrm>
            <a:off x="411480" y="365760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click_mot2_bar"/>
          <p:cNvSpPr/>
          <p:nvPr/>
        </p:nvSpPr>
        <p:spPr>
          <a:xfrm>
            <a:off x="411480" y="3657600"/>
            <a:ext cx="64008" cy="10515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mot2t"/>
          <p:cNvSpPr txBox="1"/>
          <p:nvPr/>
        </p:nvSpPr>
        <p:spPr>
          <a:xfrm>
            <a:off x="685800" y="37673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Pedagogical need</a:t>
            </a:r>
          </a:p>
        </p:txBody>
      </p:sp>
      <p:sp>
        <p:nvSpPr>
          <p:cNvPr id="18" name="with_mot2b"/>
          <p:cNvSpPr txBox="1"/>
          <p:nvPr/>
        </p:nvSpPr>
        <p:spPr>
          <a:xfrm>
            <a:off x="685800" y="4133087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Students must see the full kill-chain loop: inject → detect → alert → block → explain.</a:t>
            </a:r>
          </a:p>
        </p:txBody>
      </p:sp>
      <p:sp>
        <p:nvSpPr>
          <p:cNvPr id="19" name="click_mot3"/>
          <p:cNvSpPr/>
          <p:nvPr/>
        </p:nvSpPr>
        <p:spPr>
          <a:xfrm>
            <a:off x="411480" y="484632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click_mot3_bar"/>
          <p:cNvSpPr/>
          <p:nvPr/>
        </p:nvSpPr>
        <p:spPr>
          <a:xfrm>
            <a:off x="411480" y="4846320"/>
            <a:ext cx="64008" cy="10515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mot3t"/>
          <p:cNvSpPr txBox="1"/>
          <p:nvPr/>
        </p:nvSpPr>
        <p:spPr>
          <a:xfrm>
            <a:off x="685800" y="4956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Local control</a:t>
            </a:r>
          </a:p>
        </p:txBody>
      </p:sp>
      <p:sp>
        <p:nvSpPr>
          <p:cNvPr id="22" name="with_mot3b"/>
          <p:cNvSpPr txBox="1"/>
          <p:nvPr/>
        </p:nvSpPr>
        <p:spPr>
          <a:xfrm>
            <a:off x="685800" y="53218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On-prem FastAPI + Streamlit + SQLite (Postgres optional). No cloud lock-in for the prototype.</a:t>
            </a:r>
          </a:p>
        </p:txBody>
      </p:sp>
      <p:sp>
        <p:nvSpPr>
          <p:cNvPr id="2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Motivation  ·  AUCE 2026  ·  v1.0.0</a:t>
            </a:r>
          </a:p>
        </p:txBody>
      </p:sp>
      <p:sp>
        <p:nvSpPr>
          <p:cNvPr id="2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04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60"/>
                            </p:stCondLst>
                            <p:childTnLst>
                              <p:par>
                                <p:cTn id="29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890"/>
                            </p:stCondLst>
                            <p:childTnLst>
                              <p:par>
                                <p:cTn id="42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320"/>
                            </p:stCondLst>
                            <p:childTnLst>
                              <p:par>
                                <p:cTn id="55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1  ·  PROBLEM AND SOLUTION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Four pains. Four answers in the product.</a:t>
            </a:r>
          </a:p>
        </p:txBody>
      </p:sp>
      <p:sp>
        <p:nvSpPr>
          <p:cNvPr id="7" name="auto_ph"/>
          <p:cNvSpPr/>
          <p:nvPr/>
        </p:nvSpPr>
        <p:spPr>
          <a:xfrm>
            <a:off x="411480" y="123444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3A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ph"/>
          <p:cNvSpPr txBox="1"/>
          <p:nvPr/>
        </p:nvSpPr>
        <p:spPr>
          <a:xfrm>
            <a:off x="54864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14B"/>
                </a:solidFill>
                <a:latin typeface="Calibri"/>
              </a:rPr>
              <a:t>PROBLEM</a:t>
            </a:r>
          </a:p>
        </p:txBody>
      </p:sp>
      <p:sp>
        <p:nvSpPr>
          <p:cNvPr id="9" name="auto_sh"/>
          <p:cNvSpPr/>
          <p:nvPr/>
        </p:nvSpPr>
        <p:spPr>
          <a:xfrm>
            <a:off x="6172200" y="123444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ith_sh"/>
          <p:cNvSpPr txBox="1"/>
          <p:nvPr/>
        </p:nvSpPr>
        <p:spPr>
          <a:xfrm>
            <a:off x="630936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14B"/>
                </a:solidFill>
                <a:latin typeface="Calibri"/>
              </a:rPr>
              <a:t>SOLUTION IN THIS PROJECT</a:t>
            </a:r>
          </a:p>
        </p:txBody>
      </p:sp>
      <p:sp>
        <p:nvSpPr>
          <p:cNvPr id="11" name="click_ps0"/>
          <p:cNvSpPr/>
          <p:nvPr/>
        </p:nvSpPr>
        <p:spPr>
          <a:xfrm>
            <a:off x="411480" y="182880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click_ps0_bar"/>
          <p:cNvSpPr/>
          <p:nvPr/>
        </p:nvSpPr>
        <p:spPr>
          <a:xfrm>
            <a:off x="411480" y="1828800"/>
            <a:ext cx="64008" cy="914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ps0p"/>
          <p:cNvSpPr txBox="1"/>
          <p:nvPr/>
        </p:nvSpPr>
        <p:spPr>
          <a:xfrm>
            <a:off x="640080" y="20848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Signature IDS miss novel traffic</a:t>
            </a:r>
          </a:p>
        </p:txBody>
      </p:sp>
      <p:sp>
        <p:nvSpPr>
          <p:cNvPr id="14" name="click_ss0"/>
          <p:cNvSpPr/>
          <p:nvPr/>
        </p:nvSpPr>
        <p:spPr>
          <a:xfrm>
            <a:off x="6172200" y="182880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with_ss0s"/>
          <p:cNvSpPr txBox="1"/>
          <p:nvPr/>
        </p:nvSpPr>
        <p:spPr>
          <a:xfrm>
            <a:off x="6400800" y="20848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Hybrid models score known and unknown flows</a:t>
            </a:r>
          </a:p>
        </p:txBody>
      </p:sp>
      <p:sp>
        <p:nvSpPr>
          <p:cNvPr id="16" name="click_ps1"/>
          <p:cNvSpPr/>
          <p:nvPr/>
        </p:nvSpPr>
        <p:spPr>
          <a:xfrm>
            <a:off x="411480" y="28803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click_ps1_bar"/>
          <p:cNvSpPr/>
          <p:nvPr/>
        </p:nvSpPr>
        <p:spPr>
          <a:xfrm>
            <a:off x="411480" y="2880360"/>
            <a:ext cx="64008" cy="914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th_ps1p"/>
          <p:cNvSpPr txBox="1"/>
          <p:nvPr/>
        </p:nvSpPr>
        <p:spPr>
          <a:xfrm>
            <a:off x="640080" y="313639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AI without a SOC workflow</a:t>
            </a:r>
          </a:p>
        </p:txBody>
      </p:sp>
      <p:sp>
        <p:nvSpPr>
          <p:cNvPr id="19" name="click_ss1"/>
          <p:cNvSpPr/>
          <p:nvPr/>
        </p:nvSpPr>
        <p:spPr>
          <a:xfrm>
            <a:off x="6172200" y="28803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ss1s"/>
          <p:cNvSpPr txBox="1"/>
          <p:nvPr/>
        </p:nvSpPr>
        <p:spPr>
          <a:xfrm>
            <a:off x="6400800" y="313639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16 pages: alerts, incidents, hunting, reports</a:t>
            </a:r>
          </a:p>
        </p:txBody>
      </p:sp>
      <p:sp>
        <p:nvSpPr>
          <p:cNvPr id="21" name="click_ps2"/>
          <p:cNvSpPr/>
          <p:nvPr/>
        </p:nvSpPr>
        <p:spPr>
          <a:xfrm>
            <a:off x="411480" y="3931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ith_click_ps2_bar"/>
          <p:cNvSpPr/>
          <p:nvPr/>
        </p:nvSpPr>
        <p:spPr>
          <a:xfrm>
            <a:off x="411480" y="3931920"/>
            <a:ext cx="64008" cy="914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ith_ps2p"/>
          <p:cNvSpPr txBox="1"/>
          <p:nvPr/>
        </p:nvSpPr>
        <p:spPr>
          <a:xfrm>
            <a:off x="640080" y="41879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Enterprise NDR is too costly</a:t>
            </a:r>
          </a:p>
        </p:txBody>
      </p:sp>
      <p:sp>
        <p:nvSpPr>
          <p:cNvPr id="24" name="click_ss2"/>
          <p:cNvSpPr/>
          <p:nvPr/>
        </p:nvSpPr>
        <p:spPr>
          <a:xfrm>
            <a:off x="6172200" y="3931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ith_ss2s"/>
          <p:cNvSpPr txBox="1"/>
          <p:nvPr/>
        </p:nvSpPr>
        <p:spPr>
          <a:xfrm>
            <a:off x="6400800" y="41879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Runs locally: FastAPI + Streamlit + SQLite (Postgres optional)</a:t>
            </a:r>
          </a:p>
        </p:txBody>
      </p:sp>
      <p:sp>
        <p:nvSpPr>
          <p:cNvPr id="26" name="click_ps3"/>
          <p:cNvSpPr/>
          <p:nvPr/>
        </p:nvSpPr>
        <p:spPr>
          <a:xfrm>
            <a:off x="411480" y="4983479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with_click_ps3_bar"/>
          <p:cNvSpPr/>
          <p:nvPr/>
        </p:nvSpPr>
        <p:spPr>
          <a:xfrm>
            <a:off x="411480" y="4983479"/>
            <a:ext cx="64008" cy="914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ith_ps3p"/>
          <p:cNvSpPr txBox="1"/>
          <p:nvPr/>
        </p:nvSpPr>
        <p:spPr>
          <a:xfrm>
            <a:off x="640080" y="52395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Detect with no response</a:t>
            </a:r>
          </a:p>
        </p:txBody>
      </p:sp>
      <p:sp>
        <p:nvSpPr>
          <p:cNvPr id="29" name="click_ss3"/>
          <p:cNvSpPr/>
          <p:nvPr/>
        </p:nvSpPr>
        <p:spPr>
          <a:xfrm>
            <a:off x="6172200" y="4983479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ith_ss3s"/>
          <p:cNvSpPr txBox="1"/>
          <p:nvPr/>
        </p:nvSpPr>
        <p:spPr>
          <a:xfrm>
            <a:off x="6400800" y="52395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SOAR, block, Telegram, XAI, Copilot, approvals</a:t>
            </a:r>
          </a:p>
        </p:txBody>
      </p:sp>
      <p:sp>
        <p:nvSpPr>
          <p:cNvPr id="31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Problem-solution  ·  AUCE 2026  ·  v1.0.0</a:t>
            </a:r>
          </a:p>
        </p:txBody>
      </p:sp>
      <p:sp>
        <p:nvSpPr>
          <p:cNvPr id="33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05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1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460"/>
                            </p:stCondLst>
                            <p:childTnLst>
                              <p:par>
                                <p:cTn id="22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890"/>
                            </p:stCondLst>
                            <p:childTnLst>
                              <p:par>
                                <p:cTn id="31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320"/>
                            </p:stCondLst>
                            <p:childTnLst>
                              <p:par>
                                <p:cTn id="43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750"/>
                            </p:stCondLst>
                            <p:childTnLst>
                              <p:par>
                                <p:cTn id="52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180"/>
                            </p:stCondLst>
                            <p:childTnLst>
                              <p:par>
                                <p:cTn id="64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610"/>
                            </p:stCondLst>
                            <p:childTnLst>
                              <p:par>
                                <p:cTn id="73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3040"/>
                            </p:stCondLst>
                            <p:childTnLst>
                              <p:par>
                                <p:cTn id="85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4470"/>
                            </p:stCondLst>
                            <p:childTnLst>
                              <p:par>
                                <p:cTn id="94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900"/>
                            </p:stCondLst>
                            <p:childTnLst>
                              <p:par>
                                <p:cTn id="106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 animBg="1"/>
      <p:bldP spid="18" grpId="0"/>
      <p:bldP spid="19" grpId="0" animBg="1"/>
      <p:bldP spid="20" grpId="0"/>
      <p:bldP spid="21" grpId="0" animBg="1"/>
      <p:bldP spid="22" grpId="0" animBg="1"/>
      <p:bldP spid="23" grpId="0"/>
      <p:bldP spid="24" grpId="0" animBg="1"/>
      <p:bldP spid="25" grpId="0"/>
      <p:bldP spid="26" grpId="0" animBg="1"/>
      <p:bldP spid="27" grpId="0" animBg="1"/>
      <p:bldP spid="28" grpId="0"/>
      <p:bldP spid="29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1  ·  RESEARCH OBJECTIVES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Six objectives. Same O1–O6 as the paper.</a:t>
            </a:r>
          </a:p>
        </p:txBody>
      </p:sp>
      <p:sp>
        <p:nvSpPr>
          <p:cNvPr id="7" name="click_o0"/>
          <p:cNvSpPr/>
          <p:nvPr/>
        </p:nvSpPr>
        <p:spPr>
          <a:xfrm>
            <a:off x="411480" y="1170432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o0k"/>
          <p:cNvSpPr txBox="1"/>
          <p:nvPr/>
        </p:nvSpPr>
        <p:spPr>
          <a:xfrm>
            <a:off x="411480" y="1316736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C1A2E"/>
                </a:solidFill>
                <a:latin typeface="Calibri"/>
              </a:rPr>
              <a:t>O1</a:t>
            </a:r>
          </a:p>
        </p:txBody>
      </p:sp>
      <p:sp>
        <p:nvSpPr>
          <p:cNvPr id="9" name="with_o0c"/>
          <p:cNvSpPr/>
          <p:nvPr/>
        </p:nvSpPr>
        <p:spPr>
          <a:xfrm>
            <a:off x="1645920" y="1170432"/>
            <a:ext cx="10104120" cy="6858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ith_with_o0c_bar"/>
          <p:cNvSpPr/>
          <p:nvPr/>
        </p:nvSpPr>
        <p:spPr>
          <a:xfrm>
            <a:off x="1645920" y="1170432"/>
            <a:ext cx="64008" cy="6858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ith_o0t"/>
          <p:cNvSpPr txBox="1"/>
          <p:nvPr/>
        </p:nvSpPr>
        <p:spPr>
          <a:xfrm>
            <a:off x="1874519" y="131673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Monitor network traffic and extract useful security features (39 CICIDS-style flow features).</a:t>
            </a:r>
          </a:p>
        </p:txBody>
      </p:sp>
      <p:sp>
        <p:nvSpPr>
          <p:cNvPr id="12" name="click_o1"/>
          <p:cNvSpPr/>
          <p:nvPr/>
        </p:nvSpPr>
        <p:spPr>
          <a:xfrm>
            <a:off x="411480" y="1975104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o1k"/>
          <p:cNvSpPr txBox="1"/>
          <p:nvPr/>
        </p:nvSpPr>
        <p:spPr>
          <a:xfrm>
            <a:off x="411480" y="2121408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C1A2E"/>
                </a:solidFill>
                <a:latin typeface="Calibri"/>
              </a:rPr>
              <a:t>O2</a:t>
            </a:r>
          </a:p>
        </p:txBody>
      </p:sp>
      <p:sp>
        <p:nvSpPr>
          <p:cNvPr id="14" name="with_o1c"/>
          <p:cNvSpPr/>
          <p:nvPr/>
        </p:nvSpPr>
        <p:spPr>
          <a:xfrm>
            <a:off x="1645920" y="1975104"/>
            <a:ext cx="10104120" cy="6858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with_with_o1c_bar"/>
          <p:cNvSpPr/>
          <p:nvPr/>
        </p:nvSpPr>
        <p:spPr>
          <a:xfrm>
            <a:off x="1645920" y="1975104"/>
            <a:ext cx="64008" cy="6858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o1t"/>
          <p:cNvSpPr txBox="1"/>
          <p:nvPr/>
        </p:nvSpPr>
        <p:spPr>
          <a:xfrm>
            <a:off x="1874519" y="212140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Detect known attacks using supervised models: Random Forest and XGBoost.</a:t>
            </a:r>
          </a:p>
        </p:txBody>
      </p:sp>
      <p:sp>
        <p:nvSpPr>
          <p:cNvPr id="17" name="click_o2"/>
          <p:cNvSpPr/>
          <p:nvPr/>
        </p:nvSpPr>
        <p:spPr>
          <a:xfrm>
            <a:off x="411480" y="2779776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th_o2k"/>
          <p:cNvSpPr txBox="1"/>
          <p:nvPr/>
        </p:nvSpPr>
        <p:spPr>
          <a:xfrm>
            <a:off x="411480" y="292608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C1A2E"/>
                </a:solidFill>
                <a:latin typeface="Calibri"/>
              </a:rPr>
              <a:t>O3</a:t>
            </a:r>
          </a:p>
        </p:txBody>
      </p:sp>
      <p:sp>
        <p:nvSpPr>
          <p:cNvPr id="19" name="with_o2c"/>
          <p:cNvSpPr/>
          <p:nvPr/>
        </p:nvSpPr>
        <p:spPr>
          <a:xfrm>
            <a:off x="1645920" y="2779776"/>
            <a:ext cx="10104120" cy="6858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with_o2c_bar"/>
          <p:cNvSpPr/>
          <p:nvPr/>
        </p:nvSpPr>
        <p:spPr>
          <a:xfrm>
            <a:off x="1645920" y="2779776"/>
            <a:ext cx="64008" cy="6858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o2t"/>
          <p:cNvSpPr txBox="1"/>
          <p:nvPr/>
        </p:nvSpPr>
        <p:spPr>
          <a:xfrm>
            <a:off x="1874519" y="2926080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Detect unknown anomalies using Isolation Forest and Autoencoder.</a:t>
            </a:r>
          </a:p>
        </p:txBody>
      </p:sp>
      <p:sp>
        <p:nvSpPr>
          <p:cNvPr id="22" name="click_o3"/>
          <p:cNvSpPr/>
          <p:nvPr/>
        </p:nvSpPr>
        <p:spPr>
          <a:xfrm>
            <a:off x="411480" y="3584448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ith_o3k"/>
          <p:cNvSpPr txBox="1"/>
          <p:nvPr/>
        </p:nvSpPr>
        <p:spPr>
          <a:xfrm>
            <a:off x="411480" y="3730752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C1A2E"/>
                </a:solidFill>
                <a:latin typeface="Calibri"/>
              </a:rPr>
              <a:t>O4</a:t>
            </a:r>
          </a:p>
        </p:txBody>
      </p:sp>
      <p:sp>
        <p:nvSpPr>
          <p:cNvPr id="24" name="with_o3c"/>
          <p:cNvSpPr/>
          <p:nvPr/>
        </p:nvSpPr>
        <p:spPr>
          <a:xfrm>
            <a:off x="1645920" y="3584448"/>
            <a:ext cx="10104120" cy="6858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ith_with_o3c_bar"/>
          <p:cNvSpPr/>
          <p:nvPr/>
        </p:nvSpPr>
        <p:spPr>
          <a:xfrm>
            <a:off x="1645920" y="3584448"/>
            <a:ext cx="64008" cy="6858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ith_o3t"/>
          <p:cNvSpPr txBox="1"/>
          <p:nvPr/>
        </p:nvSpPr>
        <p:spPr>
          <a:xfrm>
            <a:off x="1874519" y="37307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Use LSTM to analyze sequential behavior and support attack prediction.</a:t>
            </a:r>
          </a:p>
        </p:txBody>
      </p:sp>
      <p:sp>
        <p:nvSpPr>
          <p:cNvPr id="27" name="click_o4"/>
          <p:cNvSpPr/>
          <p:nvPr/>
        </p:nvSpPr>
        <p:spPr>
          <a:xfrm>
            <a:off x="411480" y="4389120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ith_o4k"/>
          <p:cNvSpPr txBox="1"/>
          <p:nvPr/>
        </p:nvSpPr>
        <p:spPr>
          <a:xfrm>
            <a:off x="411480" y="4535424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C1A2E"/>
                </a:solidFill>
                <a:latin typeface="Calibri"/>
              </a:rPr>
              <a:t>O5</a:t>
            </a:r>
          </a:p>
        </p:txBody>
      </p:sp>
      <p:sp>
        <p:nvSpPr>
          <p:cNvPr id="29" name="with_o4c"/>
          <p:cNvSpPr/>
          <p:nvPr/>
        </p:nvSpPr>
        <p:spPr>
          <a:xfrm>
            <a:off x="1645920" y="4389120"/>
            <a:ext cx="10104120" cy="6858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ith_with_o4c_bar"/>
          <p:cNvSpPr/>
          <p:nvPr/>
        </p:nvSpPr>
        <p:spPr>
          <a:xfrm>
            <a:off x="1645920" y="4389120"/>
            <a:ext cx="64008" cy="6858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ith_o4t"/>
          <p:cNvSpPr txBox="1"/>
          <p:nvPr/>
        </p:nvSpPr>
        <p:spPr>
          <a:xfrm>
            <a:off x="1874519" y="453542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Improve transparency using stored per-prediction XAI (this-flow evidence + tree importances).</a:t>
            </a:r>
          </a:p>
        </p:txBody>
      </p:sp>
      <p:sp>
        <p:nvSpPr>
          <p:cNvPr id="32" name="click_o5"/>
          <p:cNvSpPr/>
          <p:nvPr/>
        </p:nvSpPr>
        <p:spPr>
          <a:xfrm>
            <a:off x="411480" y="5193792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ith_o5k"/>
          <p:cNvSpPr txBox="1"/>
          <p:nvPr/>
        </p:nvSpPr>
        <p:spPr>
          <a:xfrm>
            <a:off x="411480" y="5340096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C1A2E"/>
                </a:solidFill>
                <a:latin typeface="Calibri"/>
              </a:rPr>
              <a:t>O6</a:t>
            </a:r>
          </a:p>
        </p:txBody>
      </p:sp>
      <p:sp>
        <p:nvSpPr>
          <p:cNvPr id="34" name="with_o5c"/>
          <p:cNvSpPr/>
          <p:nvPr/>
        </p:nvSpPr>
        <p:spPr>
          <a:xfrm>
            <a:off x="1645920" y="5193792"/>
            <a:ext cx="10104120" cy="6858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ith_with_o5c_bar"/>
          <p:cNvSpPr/>
          <p:nvPr/>
        </p:nvSpPr>
        <p:spPr>
          <a:xfrm>
            <a:off x="1645920" y="5193792"/>
            <a:ext cx="64008" cy="6858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ith_o5t"/>
          <p:cNvSpPr txBox="1"/>
          <p:nvPr/>
        </p:nvSpPr>
        <p:spPr>
          <a:xfrm>
            <a:off x="1874519" y="534009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Support incident response: IP blocking, Telegram, webhooks, and reports (no email).</a:t>
            </a:r>
          </a:p>
        </p:txBody>
      </p:sp>
      <p:sp>
        <p:nvSpPr>
          <p:cNvPr id="37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Objectives  ·  AUCE 2026  ·  v1.0.0</a:t>
            </a:r>
          </a:p>
        </p:txBody>
      </p:sp>
      <p:sp>
        <p:nvSpPr>
          <p:cNvPr id="39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06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60"/>
                            </p:stCondLst>
                            <p:childTnLst>
                              <p:par>
                                <p:cTn id="34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890"/>
                            </p:stCondLst>
                            <p:childTnLst>
                              <p:par>
                                <p:cTn id="52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320"/>
                            </p:stCondLst>
                            <p:childTnLst>
                              <p:par>
                                <p:cTn id="70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750"/>
                            </p:stCondLst>
                            <p:childTnLst>
                              <p:par>
                                <p:cTn id="88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180"/>
                            </p:stCondLst>
                            <p:childTnLst>
                              <p:par>
                                <p:cTn id="106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 animBg="1"/>
      <p:bldP spid="31" grpId="0"/>
      <p:bldP spid="32" grpId="0" animBg="1"/>
      <p:bldP spid="33" grpId="0"/>
      <p:bldP spid="34" grpId="0" animBg="1"/>
      <p:bldP spid="35" grpId="0" animBg="1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1  ·  PROPOSED SOLUTION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One product. Four verbs.</a:t>
            </a:r>
          </a:p>
        </p:txBody>
      </p:sp>
      <p:sp>
        <p:nvSpPr>
          <p:cNvPr id="7" name="click_pil0"/>
          <p:cNvSpPr/>
          <p:nvPr/>
        </p:nvSpPr>
        <p:spPr>
          <a:xfrm>
            <a:off x="411480" y="137160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pil0n"/>
          <p:cNvSpPr txBox="1"/>
          <p:nvPr/>
        </p:nvSpPr>
        <p:spPr>
          <a:xfrm>
            <a:off x="594360" y="1645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01</a:t>
            </a:r>
          </a:p>
        </p:txBody>
      </p:sp>
      <p:sp>
        <p:nvSpPr>
          <p:cNvPr id="9" name="with_pil0t"/>
          <p:cNvSpPr txBox="1"/>
          <p:nvPr/>
        </p:nvSpPr>
        <p:spPr>
          <a:xfrm>
            <a:off x="594360" y="23774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DETECT</a:t>
            </a:r>
          </a:p>
        </p:txBody>
      </p:sp>
      <p:sp>
        <p:nvSpPr>
          <p:cNvPr id="10" name="with_pil0b"/>
          <p:cNvSpPr txBox="1"/>
          <p:nvPr/>
        </p:nvSpPr>
        <p:spPr>
          <a:xfrm>
            <a:off x="594360" y="32004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Live capture + hybrid models + threat score + severity.</a:t>
            </a:r>
          </a:p>
        </p:txBody>
      </p:sp>
      <p:sp>
        <p:nvSpPr>
          <p:cNvPr id="11" name="click_pil1"/>
          <p:cNvSpPr/>
          <p:nvPr/>
        </p:nvSpPr>
        <p:spPr>
          <a:xfrm>
            <a:off x="3337560" y="137160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pil1n"/>
          <p:cNvSpPr txBox="1"/>
          <p:nvPr/>
        </p:nvSpPr>
        <p:spPr>
          <a:xfrm>
            <a:off x="3520440" y="1645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02</a:t>
            </a:r>
          </a:p>
        </p:txBody>
      </p:sp>
      <p:sp>
        <p:nvSpPr>
          <p:cNvPr id="13" name="with_pil1t"/>
          <p:cNvSpPr txBox="1"/>
          <p:nvPr/>
        </p:nvSpPr>
        <p:spPr>
          <a:xfrm>
            <a:off x="3520440" y="23774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UNDERSTAND</a:t>
            </a:r>
          </a:p>
        </p:txBody>
      </p:sp>
      <p:sp>
        <p:nvSpPr>
          <p:cNvPr id="14" name="with_pil1b"/>
          <p:cNvSpPr txBox="1"/>
          <p:nvPr/>
        </p:nvSpPr>
        <p:spPr>
          <a:xfrm>
            <a:off x="3520440" y="32004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MITRE ATT&amp;CK, threat intel, host risk, stored XAI, Copilot.</a:t>
            </a:r>
          </a:p>
        </p:txBody>
      </p:sp>
      <p:sp>
        <p:nvSpPr>
          <p:cNvPr id="15" name="click_pil2"/>
          <p:cNvSpPr/>
          <p:nvPr/>
        </p:nvSpPr>
        <p:spPr>
          <a:xfrm>
            <a:off x="6263640" y="137160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pil2n"/>
          <p:cNvSpPr txBox="1"/>
          <p:nvPr/>
        </p:nvSpPr>
        <p:spPr>
          <a:xfrm>
            <a:off x="6446520" y="1645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03</a:t>
            </a:r>
          </a:p>
        </p:txBody>
      </p:sp>
      <p:sp>
        <p:nvSpPr>
          <p:cNvPr id="17" name="with_pil2t"/>
          <p:cNvSpPr txBox="1"/>
          <p:nvPr/>
        </p:nvSpPr>
        <p:spPr>
          <a:xfrm>
            <a:off x="6446520" y="23774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RESPOND</a:t>
            </a:r>
          </a:p>
        </p:txBody>
      </p:sp>
      <p:sp>
        <p:nvSpPr>
          <p:cNvPr id="18" name="with_pil2b"/>
          <p:cNvSpPr txBox="1"/>
          <p:nvPr/>
        </p:nvSpPr>
        <p:spPr>
          <a:xfrm>
            <a:off x="6446520" y="32004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SOAR playbooks, allow/block, approvals, Telegram, SIEM/Jira hooks.</a:t>
            </a:r>
          </a:p>
        </p:txBody>
      </p:sp>
      <p:sp>
        <p:nvSpPr>
          <p:cNvPr id="19" name="click_pil3"/>
          <p:cNvSpPr/>
          <p:nvPr/>
        </p:nvSpPr>
        <p:spPr>
          <a:xfrm>
            <a:off x="9189720" y="137160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pil3n"/>
          <p:cNvSpPr txBox="1"/>
          <p:nvPr/>
        </p:nvSpPr>
        <p:spPr>
          <a:xfrm>
            <a:off x="9372600" y="1645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04</a:t>
            </a:r>
          </a:p>
        </p:txBody>
      </p:sp>
      <p:sp>
        <p:nvSpPr>
          <p:cNvPr id="21" name="with_pil3t"/>
          <p:cNvSpPr txBox="1"/>
          <p:nvPr/>
        </p:nvSpPr>
        <p:spPr>
          <a:xfrm>
            <a:off x="9372600" y="23774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PROVE</a:t>
            </a:r>
          </a:p>
        </p:txBody>
      </p:sp>
      <p:sp>
        <p:nvSpPr>
          <p:cNvPr id="22" name="with_pil3b"/>
          <p:cNvSpPr txBox="1"/>
          <p:nvPr/>
        </p:nvSpPr>
        <p:spPr>
          <a:xfrm>
            <a:off x="9372600" y="32004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Reports, live-versus-simulation evidence, and the 12k holdout.</a:t>
            </a:r>
          </a:p>
        </p:txBody>
      </p:sp>
      <p:sp>
        <p:nvSpPr>
          <p:cNvPr id="2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Solution  ·  AUCE 2026  ·  v1.0.0</a:t>
            </a:r>
          </a:p>
        </p:txBody>
      </p:sp>
      <p:sp>
        <p:nvSpPr>
          <p:cNvPr id="2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07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30"/>
                            </p:stCondLst>
                            <p:childTnLst>
                              <p:par>
                                <p:cTn id="15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460"/>
                            </p:stCondLst>
                            <p:childTnLst>
                              <p:par>
                                <p:cTn id="33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890"/>
                            </p:stCondLst>
                            <p:childTnLst>
                              <p:par>
                                <p:cTn id="51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320"/>
                            </p:stCondLst>
                            <p:childTnLst>
                              <p:par>
                                <p:cTn id="69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2  ·  LITERATURE GAP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Existing tools solve a slice. This project closes the loop.</a:t>
            </a:r>
          </a:p>
        </p:txBody>
      </p:sp>
      <p:sp>
        <p:nvSpPr>
          <p:cNvPr id="7" name="auto_head0"/>
          <p:cNvSpPr/>
          <p:nvPr/>
        </p:nvSpPr>
        <p:spPr>
          <a:xfrm>
            <a:off x="411480" y="1280160"/>
            <a:ext cx="3703320" cy="5029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head0"/>
          <p:cNvSpPr txBox="1"/>
          <p:nvPr/>
        </p:nvSpPr>
        <p:spPr>
          <a:xfrm>
            <a:off x="502920" y="135331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14B"/>
                </a:solidFill>
                <a:latin typeface="Calibri"/>
              </a:rPr>
              <a:t>Approach</a:t>
            </a:r>
          </a:p>
        </p:txBody>
      </p:sp>
      <p:sp>
        <p:nvSpPr>
          <p:cNvPr id="9" name="auto_head1"/>
          <p:cNvSpPr/>
          <p:nvPr/>
        </p:nvSpPr>
        <p:spPr>
          <a:xfrm>
            <a:off x="4251960" y="1280160"/>
            <a:ext cx="3703320" cy="5029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ith_head1"/>
          <p:cNvSpPr txBox="1"/>
          <p:nvPr/>
        </p:nvSpPr>
        <p:spPr>
          <a:xfrm>
            <a:off x="4343400" y="135331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14B"/>
                </a:solidFill>
                <a:latin typeface="Calibri"/>
              </a:rPr>
              <a:t>Strength</a:t>
            </a:r>
          </a:p>
        </p:txBody>
      </p:sp>
      <p:sp>
        <p:nvSpPr>
          <p:cNvPr id="11" name="auto_head2"/>
          <p:cNvSpPr/>
          <p:nvPr/>
        </p:nvSpPr>
        <p:spPr>
          <a:xfrm>
            <a:off x="8092440" y="1280160"/>
            <a:ext cx="3703320" cy="5029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head2"/>
          <p:cNvSpPr txBox="1"/>
          <p:nvPr/>
        </p:nvSpPr>
        <p:spPr>
          <a:xfrm>
            <a:off x="8183880" y="135331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14B"/>
                </a:solidFill>
                <a:latin typeface="Calibri"/>
              </a:rPr>
              <a:t>What is still missing</a:t>
            </a:r>
          </a:p>
        </p:txBody>
      </p:sp>
      <p:sp>
        <p:nvSpPr>
          <p:cNvPr id="13" name="click_gap0"/>
          <p:cNvSpPr/>
          <p:nvPr/>
        </p:nvSpPr>
        <p:spPr>
          <a:xfrm>
            <a:off x="411480" y="1920240"/>
            <a:ext cx="1138428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ith_gap00"/>
          <p:cNvSpPr txBox="1"/>
          <p:nvPr/>
        </p:nvSpPr>
        <p:spPr>
          <a:xfrm>
            <a:off x="548640" y="21762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Signature IDS</a:t>
            </a:r>
          </a:p>
        </p:txBody>
      </p:sp>
      <p:sp>
        <p:nvSpPr>
          <p:cNvPr id="15" name="with_gap01"/>
          <p:cNvSpPr txBox="1"/>
          <p:nvPr/>
        </p:nvSpPr>
        <p:spPr>
          <a:xfrm>
            <a:off x="4389120" y="21762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Fast known threats</a:t>
            </a:r>
          </a:p>
        </p:txBody>
      </p:sp>
      <p:sp>
        <p:nvSpPr>
          <p:cNvPr id="16" name="with_gap02"/>
          <p:cNvSpPr txBox="1"/>
          <p:nvPr/>
        </p:nvSpPr>
        <p:spPr>
          <a:xfrm>
            <a:off x="8229600" y="21762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Weak on novel / zero-day patterns</a:t>
            </a:r>
          </a:p>
        </p:txBody>
      </p:sp>
      <p:sp>
        <p:nvSpPr>
          <p:cNvPr id="17" name="click_gap1"/>
          <p:cNvSpPr/>
          <p:nvPr/>
        </p:nvSpPr>
        <p:spPr>
          <a:xfrm>
            <a:off x="411480" y="2926080"/>
            <a:ext cx="1138428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th_gap10"/>
          <p:cNvSpPr txBox="1"/>
          <p:nvPr/>
        </p:nvSpPr>
        <p:spPr>
          <a:xfrm>
            <a:off x="548640" y="31821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SIEM / EDR</a:t>
            </a:r>
          </a:p>
        </p:txBody>
      </p:sp>
      <p:sp>
        <p:nvSpPr>
          <p:cNvPr id="19" name="with_gap11"/>
          <p:cNvSpPr txBox="1"/>
          <p:nvPr/>
        </p:nvSpPr>
        <p:spPr>
          <a:xfrm>
            <a:off x="4389120" y="31821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Logs &amp; endpoints</a:t>
            </a:r>
          </a:p>
        </p:txBody>
      </p:sp>
      <p:sp>
        <p:nvSpPr>
          <p:cNvPr id="20" name="with_gap12"/>
          <p:cNvSpPr txBox="1"/>
          <p:nvPr/>
        </p:nvSpPr>
        <p:spPr>
          <a:xfrm>
            <a:off x="8229600" y="31821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Not a packet-level NDR with hybrid AI</a:t>
            </a:r>
          </a:p>
        </p:txBody>
      </p:sp>
      <p:sp>
        <p:nvSpPr>
          <p:cNvPr id="21" name="click_gap2"/>
          <p:cNvSpPr/>
          <p:nvPr/>
        </p:nvSpPr>
        <p:spPr>
          <a:xfrm>
            <a:off x="411480" y="3931920"/>
            <a:ext cx="11384280" cy="914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ith_gap20"/>
          <p:cNvSpPr txBox="1"/>
          <p:nvPr/>
        </p:nvSpPr>
        <p:spPr>
          <a:xfrm>
            <a:off x="548640" y="4187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Cloud NDR</a:t>
            </a:r>
          </a:p>
        </p:txBody>
      </p:sp>
      <p:sp>
        <p:nvSpPr>
          <p:cNvPr id="23" name="with_gap21"/>
          <p:cNvSpPr txBox="1"/>
          <p:nvPr/>
        </p:nvSpPr>
        <p:spPr>
          <a:xfrm>
            <a:off x="4389120" y="4187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Scale &amp; intel</a:t>
            </a:r>
          </a:p>
        </p:txBody>
      </p:sp>
      <p:sp>
        <p:nvSpPr>
          <p:cNvPr id="24" name="with_gap22"/>
          <p:cNvSpPr txBox="1"/>
          <p:nvPr/>
        </p:nvSpPr>
        <p:spPr>
          <a:xfrm>
            <a:off x="8229600" y="4187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Cost, privacy, not a student-lab stack</a:t>
            </a:r>
          </a:p>
        </p:txBody>
      </p:sp>
      <p:sp>
        <p:nvSpPr>
          <p:cNvPr id="25" name="click_gap3"/>
          <p:cNvSpPr/>
          <p:nvPr/>
        </p:nvSpPr>
        <p:spPr>
          <a:xfrm>
            <a:off x="411480" y="4937760"/>
            <a:ext cx="11384280" cy="914400"/>
          </a:xfrm>
          <a:prstGeom prst="roundRect">
            <a:avLst>
              <a:gd name="adj" fmla="val 8000"/>
            </a:avLst>
          </a:prstGeom>
          <a:solidFill>
            <a:srgbClr val="1A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ith_gap30"/>
          <p:cNvSpPr txBox="1"/>
          <p:nvPr/>
        </p:nvSpPr>
        <p:spPr>
          <a:xfrm>
            <a:off x="548640" y="51937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This work</a:t>
            </a:r>
          </a:p>
        </p:txBody>
      </p:sp>
      <p:sp>
        <p:nvSpPr>
          <p:cNvPr id="27" name="with_gap31"/>
          <p:cNvSpPr txBox="1"/>
          <p:nvPr/>
        </p:nvSpPr>
        <p:spPr>
          <a:xfrm>
            <a:off x="4389120" y="51937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Local NDR + SOC</a:t>
            </a:r>
          </a:p>
        </p:txBody>
      </p:sp>
      <p:sp>
        <p:nvSpPr>
          <p:cNvPr id="28" name="with_gap32"/>
          <p:cNvSpPr txBox="1"/>
          <p:nvPr/>
        </p:nvSpPr>
        <p:spPr>
          <a:xfrm>
            <a:off x="8229600" y="51937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Implemented pipeline + measured models</a:t>
            </a:r>
          </a:p>
        </p:txBody>
      </p:sp>
      <p:sp>
        <p:nvSpPr>
          <p:cNvPr id="29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Gap  ·  AUCE 2026  ·  v1.0.0</a:t>
            </a:r>
          </a:p>
        </p:txBody>
      </p:sp>
      <p:sp>
        <p:nvSpPr>
          <p:cNvPr id="31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08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22" presetClass="entr" presetSubtype="4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460"/>
                            </p:stCondLst>
                            <p:childTnLst>
                              <p:par>
                                <p:cTn id="24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890"/>
                            </p:stCondLst>
                            <p:childTnLst>
                              <p:par>
                                <p:cTn id="35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320"/>
                            </p:stCondLst>
                            <p:childTnLst>
                              <p:par>
                                <p:cTn id="46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750"/>
                            </p:stCondLst>
                            <p:childTnLst>
                              <p:par>
                                <p:cTn id="63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180"/>
                            </p:stCondLst>
                            <p:childTnLst>
                              <p:par>
                                <p:cTn id="80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610"/>
                            </p:stCondLst>
                            <p:childTnLst>
                              <p:par>
                                <p:cTn id="97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2  ·  HOW THE GAP IS CLOSED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One local NDR. Capabilities usually split across several tools.</a:t>
            </a:r>
          </a:p>
        </p:txBody>
      </p:sp>
      <p:sp>
        <p:nvSpPr>
          <p:cNvPr id="7" name="click_df0"/>
          <p:cNvSpPr/>
          <p:nvPr/>
        </p:nvSpPr>
        <p:spPr>
          <a:xfrm>
            <a:off x="411480" y="1325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df0_bar"/>
          <p:cNvSpPr/>
          <p:nvPr/>
        </p:nvSpPr>
        <p:spPr>
          <a:xfrm>
            <a:off x="41148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df0t"/>
          <p:cNvSpPr txBox="1"/>
          <p:nvPr/>
        </p:nvSpPr>
        <p:spPr>
          <a:xfrm>
            <a:off x="68580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End-to-end loop</a:t>
            </a:r>
          </a:p>
        </p:txBody>
      </p:sp>
      <p:sp>
        <p:nvSpPr>
          <p:cNvPr id="10" name="with_df0b"/>
          <p:cNvSpPr txBox="1"/>
          <p:nvPr/>
        </p:nvSpPr>
        <p:spPr>
          <a:xfrm>
            <a:off x="685800" y="2194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Capture, detect, alert, hunt, and block in one prototype — typically split across IDS, SIEM, and a notebook.</a:t>
            </a:r>
          </a:p>
        </p:txBody>
      </p:sp>
      <p:sp>
        <p:nvSpPr>
          <p:cNvPr id="11" name="click_df1"/>
          <p:cNvSpPr/>
          <p:nvPr/>
        </p:nvSpPr>
        <p:spPr>
          <a:xfrm>
            <a:off x="6263640" y="1325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click_df1_bar"/>
          <p:cNvSpPr/>
          <p:nvPr/>
        </p:nvSpPr>
        <p:spPr>
          <a:xfrm>
            <a:off x="626364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df1t"/>
          <p:cNvSpPr txBox="1"/>
          <p:nvPr/>
        </p:nvSpPr>
        <p:spPr>
          <a:xfrm>
            <a:off x="653796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Hybrid AI</a:t>
            </a:r>
          </a:p>
        </p:txBody>
      </p:sp>
      <p:sp>
        <p:nvSpPr>
          <p:cNvPr id="14" name="with_df1b"/>
          <p:cNvSpPr txBox="1"/>
          <p:nvPr/>
        </p:nvSpPr>
        <p:spPr>
          <a:xfrm>
            <a:off x="6537960" y="2194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Supervised + anomaly + deep + sequence + online learning that does not overwrite core models.</a:t>
            </a:r>
          </a:p>
        </p:txBody>
      </p:sp>
      <p:sp>
        <p:nvSpPr>
          <p:cNvPr id="15" name="click_df2"/>
          <p:cNvSpPr/>
          <p:nvPr/>
        </p:nvSpPr>
        <p:spPr>
          <a:xfrm>
            <a:off x="411480" y="3611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click_df2_bar"/>
          <p:cNvSpPr/>
          <p:nvPr/>
        </p:nvSpPr>
        <p:spPr>
          <a:xfrm>
            <a:off x="411480" y="3611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df2t"/>
          <p:cNvSpPr txBox="1"/>
          <p:nvPr/>
        </p:nvSpPr>
        <p:spPr>
          <a:xfrm>
            <a:off x="68580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Same path for demos</a:t>
            </a:r>
          </a:p>
        </p:txBody>
      </p:sp>
      <p:sp>
        <p:nvSpPr>
          <p:cNvPr id="18" name="with_df2b"/>
          <p:cNvSpPr txBox="1"/>
          <p:nvPr/>
        </p:nvSpPr>
        <p:spPr>
          <a:xfrm>
            <a:off x="685800" y="4480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Threat simulation injects into the real pipeline. The jury sees true SOC behaviour.</a:t>
            </a:r>
          </a:p>
        </p:txBody>
      </p:sp>
      <p:sp>
        <p:nvSpPr>
          <p:cNvPr id="19" name="click_df3"/>
          <p:cNvSpPr/>
          <p:nvPr/>
        </p:nvSpPr>
        <p:spPr>
          <a:xfrm>
            <a:off x="6263640" y="3611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click_df3_bar"/>
          <p:cNvSpPr/>
          <p:nvPr/>
        </p:nvSpPr>
        <p:spPr>
          <a:xfrm>
            <a:off x="6263640" y="3611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df3t"/>
          <p:cNvSpPr txBox="1"/>
          <p:nvPr/>
        </p:nvSpPr>
        <p:spPr>
          <a:xfrm>
            <a:off x="653796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Operate, then explain</a:t>
            </a:r>
          </a:p>
        </p:txBody>
      </p:sp>
      <p:sp>
        <p:nvSpPr>
          <p:cNvPr id="22" name="with_df3b"/>
          <p:cNvSpPr txBox="1"/>
          <p:nvPr/>
        </p:nvSpPr>
        <p:spPr>
          <a:xfrm>
            <a:off x="6537960" y="4480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MITRE, SOAR, per-alert XAI, Copilot, Telegram, and human-approval mode — not accuracy alone.</a:t>
            </a:r>
          </a:p>
        </p:txBody>
      </p:sp>
      <p:sp>
        <p:nvSpPr>
          <p:cNvPr id="2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Difference  ·  AUCE 2026  ·  v1.0.0</a:t>
            </a:r>
          </a:p>
        </p:txBody>
      </p:sp>
      <p:sp>
        <p:nvSpPr>
          <p:cNvPr id="2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09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460"/>
                            </p:stCondLst>
                            <p:childTnLst>
                              <p:par>
                                <p:cTn id="31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890"/>
                            </p:stCondLst>
                            <p:childTnLst>
                              <p:par>
                                <p:cTn id="46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320"/>
                            </p:stCondLst>
                            <p:childTnLst>
                              <p:par>
                                <p:cTn id="61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3  ·  ARCHITECTURE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From packet to playbook — on one machine.</a:t>
            </a:r>
          </a:p>
        </p:txBody>
      </p:sp>
      <p:pic>
        <p:nvPicPr>
          <p:cNvPr id="7" name="click_flow" descr="flow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11338560" cy="2976372"/>
          </a:xfrm>
          <a:prstGeom prst="rect">
            <a:avLst/>
          </a:prstGeom>
        </p:spPr>
      </p:pic>
      <p:sp>
        <p:nvSpPr>
          <p:cNvPr id="8" name="click_flowcap"/>
          <p:cNvSpPr txBox="1"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run.bat starts FastAPI (:8000) and Streamlit (:8501). SQLite stores flows, predictions, alerts, XAI, blocks, and incidents. PostgreSQL is optional. A supervisor can auto-recover; run_capture.bat is the 24/7 sensor.</a:t>
            </a:r>
          </a:p>
        </p:txBody>
      </p:sp>
      <p:sp>
        <p:nvSpPr>
          <p:cNvPr id="9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Architecture  ·  AUCE 2026  ·  v1.0.0</a:t>
            </a:r>
          </a:p>
        </p:txBody>
      </p:sp>
      <p:sp>
        <p:nvSpPr>
          <p:cNvPr id="11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10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1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10" presetClass="entr" presetSubtype="0" de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460"/>
                            </p:stCondLst>
                            <p:childTnLst>
                              <p:par>
                                <p:cTn id="17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3  ·  HYBRID AI ENGINE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Five brains. One decision.</a:t>
            </a:r>
          </a:p>
        </p:txBody>
      </p:sp>
      <p:pic>
        <p:nvPicPr>
          <p:cNvPr id="7" name="click_hyb" descr="hybrid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11430000" cy="3714750"/>
          </a:xfrm>
          <a:prstGeom prst="rect">
            <a:avLst/>
          </a:prstGeom>
        </p:spPr>
      </p:pic>
      <p:sp>
        <p:nvSpPr>
          <p:cNvPr id="8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Hybrid AI  ·  AUCE 2026  ·  v1.0.0</a:t>
            </a:r>
          </a:p>
        </p:txBody>
      </p:sp>
      <p:sp>
        <p:nvSpPr>
          <p:cNvPr id="10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11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10" presetClass="entr" presetSubtype="0" de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TECHNOLOGY STACK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A stack a senior can defend.</a:t>
            </a:r>
          </a:p>
        </p:txBody>
      </p:sp>
      <p:sp>
        <p:nvSpPr>
          <p:cNvPr id="7" name="click_st0"/>
          <p:cNvSpPr/>
          <p:nvPr/>
        </p:nvSpPr>
        <p:spPr>
          <a:xfrm>
            <a:off x="411480" y="12801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st0_bar"/>
          <p:cNvSpPr/>
          <p:nvPr/>
        </p:nvSpPr>
        <p:spPr>
          <a:xfrm>
            <a:off x="411480" y="12801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st0a"/>
          <p:cNvSpPr txBox="1"/>
          <p:nvPr/>
        </p:nvSpPr>
        <p:spPr>
          <a:xfrm>
            <a:off x="594360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Python 3</a:t>
            </a:r>
          </a:p>
        </p:txBody>
      </p:sp>
      <p:sp>
        <p:nvSpPr>
          <p:cNvPr id="10" name="with_st0b"/>
          <p:cNvSpPr txBox="1"/>
          <p:nvPr/>
        </p:nvSpPr>
        <p:spPr>
          <a:xfrm>
            <a:off x="594360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Core language</a:t>
            </a:r>
          </a:p>
        </p:txBody>
      </p:sp>
      <p:sp>
        <p:nvSpPr>
          <p:cNvPr id="11" name="with_st1"/>
          <p:cNvSpPr/>
          <p:nvPr/>
        </p:nvSpPr>
        <p:spPr>
          <a:xfrm>
            <a:off x="3337560" y="12801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with_st1_bar"/>
          <p:cNvSpPr/>
          <p:nvPr/>
        </p:nvSpPr>
        <p:spPr>
          <a:xfrm>
            <a:off x="3337560" y="12801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st1a"/>
          <p:cNvSpPr txBox="1"/>
          <p:nvPr/>
        </p:nvSpPr>
        <p:spPr>
          <a:xfrm>
            <a:off x="3520440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FastAPI</a:t>
            </a:r>
          </a:p>
        </p:txBody>
      </p:sp>
      <p:sp>
        <p:nvSpPr>
          <p:cNvPr id="14" name="with_st1b"/>
          <p:cNvSpPr txBox="1"/>
          <p:nvPr/>
        </p:nvSpPr>
        <p:spPr>
          <a:xfrm>
            <a:off x="3520440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REST API :8000</a:t>
            </a:r>
          </a:p>
        </p:txBody>
      </p:sp>
      <p:sp>
        <p:nvSpPr>
          <p:cNvPr id="15" name="with_st2"/>
          <p:cNvSpPr/>
          <p:nvPr/>
        </p:nvSpPr>
        <p:spPr>
          <a:xfrm>
            <a:off x="6263640" y="12801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with_st2_bar"/>
          <p:cNvSpPr/>
          <p:nvPr/>
        </p:nvSpPr>
        <p:spPr>
          <a:xfrm>
            <a:off x="6263640" y="12801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st2a"/>
          <p:cNvSpPr txBox="1"/>
          <p:nvPr/>
        </p:nvSpPr>
        <p:spPr>
          <a:xfrm>
            <a:off x="6446520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Streamlit</a:t>
            </a:r>
          </a:p>
        </p:txBody>
      </p:sp>
      <p:sp>
        <p:nvSpPr>
          <p:cNvPr id="18" name="with_st2b"/>
          <p:cNvSpPr txBox="1"/>
          <p:nvPr/>
        </p:nvSpPr>
        <p:spPr>
          <a:xfrm>
            <a:off x="6446520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SOC UI :8501</a:t>
            </a:r>
          </a:p>
        </p:txBody>
      </p:sp>
      <p:sp>
        <p:nvSpPr>
          <p:cNvPr id="19" name="with_st3"/>
          <p:cNvSpPr/>
          <p:nvPr/>
        </p:nvSpPr>
        <p:spPr>
          <a:xfrm>
            <a:off x="9189720" y="12801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with_st3_bar"/>
          <p:cNvSpPr/>
          <p:nvPr/>
        </p:nvSpPr>
        <p:spPr>
          <a:xfrm>
            <a:off x="9189720" y="12801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st3a"/>
          <p:cNvSpPr txBox="1"/>
          <p:nvPr/>
        </p:nvSpPr>
        <p:spPr>
          <a:xfrm>
            <a:off x="9372600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SQLite</a:t>
            </a:r>
          </a:p>
        </p:txBody>
      </p:sp>
      <p:sp>
        <p:nvSpPr>
          <p:cNvPr id="22" name="with_st3b"/>
          <p:cNvSpPr txBox="1"/>
          <p:nvPr/>
        </p:nvSpPr>
        <p:spPr>
          <a:xfrm>
            <a:off x="9372600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Local store · Postgres optional</a:t>
            </a:r>
          </a:p>
        </p:txBody>
      </p:sp>
      <p:sp>
        <p:nvSpPr>
          <p:cNvPr id="23" name="click_st4"/>
          <p:cNvSpPr/>
          <p:nvPr/>
        </p:nvSpPr>
        <p:spPr>
          <a:xfrm>
            <a:off x="411480" y="28803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ith_click_st4_bar"/>
          <p:cNvSpPr/>
          <p:nvPr/>
        </p:nvSpPr>
        <p:spPr>
          <a:xfrm>
            <a:off x="411480" y="28803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ith_st4a"/>
          <p:cNvSpPr txBox="1"/>
          <p:nvPr/>
        </p:nvSpPr>
        <p:spPr>
          <a:xfrm>
            <a:off x="594360" y="31089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Scikit-learn</a:t>
            </a:r>
          </a:p>
        </p:txBody>
      </p:sp>
      <p:sp>
        <p:nvSpPr>
          <p:cNvPr id="26" name="with_st4b"/>
          <p:cNvSpPr txBox="1"/>
          <p:nvPr/>
        </p:nvSpPr>
        <p:spPr>
          <a:xfrm>
            <a:off x="594360" y="36576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RF / Isolation Forest</a:t>
            </a:r>
          </a:p>
        </p:txBody>
      </p:sp>
      <p:sp>
        <p:nvSpPr>
          <p:cNvPr id="27" name="with_st5"/>
          <p:cNvSpPr/>
          <p:nvPr/>
        </p:nvSpPr>
        <p:spPr>
          <a:xfrm>
            <a:off x="3337560" y="28803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ith_with_st5_bar"/>
          <p:cNvSpPr/>
          <p:nvPr/>
        </p:nvSpPr>
        <p:spPr>
          <a:xfrm>
            <a:off x="3337560" y="28803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ith_st5a"/>
          <p:cNvSpPr txBox="1"/>
          <p:nvPr/>
        </p:nvSpPr>
        <p:spPr>
          <a:xfrm>
            <a:off x="3520440" y="31089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XGBoost</a:t>
            </a:r>
          </a:p>
        </p:txBody>
      </p:sp>
      <p:sp>
        <p:nvSpPr>
          <p:cNvPr id="30" name="with_st5b"/>
          <p:cNvSpPr txBox="1"/>
          <p:nvPr/>
        </p:nvSpPr>
        <p:spPr>
          <a:xfrm>
            <a:off x="3520440" y="36576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Gradient boosting</a:t>
            </a:r>
          </a:p>
        </p:txBody>
      </p:sp>
      <p:sp>
        <p:nvSpPr>
          <p:cNvPr id="31" name="with_st6"/>
          <p:cNvSpPr/>
          <p:nvPr/>
        </p:nvSpPr>
        <p:spPr>
          <a:xfrm>
            <a:off x="6263640" y="28803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ith_with_st6_bar"/>
          <p:cNvSpPr/>
          <p:nvPr/>
        </p:nvSpPr>
        <p:spPr>
          <a:xfrm>
            <a:off x="6263640" y="28803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ith_st6a"/>
          <p:cNvSpPr txBox="1"/>
          <p:nvPr/>
        </p:nvSpPr>
        <p:spPr>
          <a:xfrm>
            <a:off x="6446520" y="31089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PyTorch</a:t>
            </a:r>
          </a:p>
        </p:txBody>
      </p:sp>
      <p:sp>
        <p:nvSpPr>
          <p:cNvPr id="34" name="with_st6b"/>
          <p:cNvSpPr txBox="1"/>
          <p:nvPr/>
        </p:nvSpPr>
        <p:spPr>
          <a:xfrm>
            <a:off x="6446520" y="36576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AE / LSTM</a:t>
            </a:r>
          </a:p>
        </p:txBody>
      </p:sp>
      <p:sp>
        <p:nvSpPr>
          <p:cNvPr id="35" name="with_st7"/>
          <p:cNvSpPr/>
          <p:nvPr/>
        </p:nvSpPr>
        <p:spPr>
          <a:xfrm>
            <a:off x="9189720" y="28803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ith_with_st7_bar"/>
          <p:cNvSpPr/>
          <p:nvPr/>
        </p:nvSpPr>
        <p:spPr>
          <a:xfrm>
            <a:off x="9189720" y="28803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ith_st7a"/>
          <p:cNvSpPr txBox="1"/>
          <p:nvPr/>
        </p:nvSpPr>
        <p:spPr>
          <a:xfrm>
            <a:off x="9372600" y="31089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Scapy</a:t>
            </a:r>
          </a:p>
        </p:txBody>
      </p:sp>
      <p:sp>
        <p:nvSpPr>
          <p:cNvPr id="38" name="with_st7b"/>
          <p:cNvSpPr txBox="1"/>
          <p:nvPr/>
        </p:nvSpPr>
        <p:spPr>
          <a:xfrm>
            <a:off x="9372600" y="36576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Live capture</a:t>
            </a:r>
          </a:p>
        </p:txBody>
      </p:sp>
      <p:sp>
        <p:nvSpPr>
          <p:cNvPr id="39" name="click_st8"/>
          <p:cNvSpPr/>
          <p:nvPr/>
        </p:nvSpPr>
        <p:spPr>
          <a:xfrm>
            <a:off x="411480" y="44805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ith_click_st8_bar"/>
          <p:cNvSpPr/>
          <p:nvPr/>
        </p:nvSpPr>
        <p:spPr>
          <a:xfrm>
            <a:off x="411480" y="44805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ith_st8a"/>
          <p:cNvSpPr txBox="1"/>
          <p:nvPr/>
        </p:nvSpPr>
        <p:spPr>
          <a:xfrm>
            <a:off x="59436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Telegram</a:t>
            </a:r>
          </a:p>
        </p:txBody>
      </p:sp>
      <p:sp>
        <p:nvSpPr>
          <p:cNvPr id="42" name="with_st8b"/>
          <p:cNvSpPr txBox="1"/>
          <p:nvPr/>
        </p:nvSpPr>
        <p:spPr>
          <a:xfrm>
            <a:off x="59436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Analyst notify</a:t>
            </a:r>
          </a:p>
        </p:txBody>
      </p:sp>
      <p:sp>
        <p:nvSpPr>
          <p:cNvPr id="43" name="with_st9"/>
          <p:cNvSpPr/>
          <p:nvPr/>
        </p:nvSpPr>
        <p:spPr>
          <a:xfrm>
            <a:off x="3337560" y="44805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with_with_st9_bar"/>
          <p:cNvSpPr/>
          <p:nvPr/>
        </p:nvSpPr>
        <p:spPr>
          <a:xfrm>
            <a:off x="3337560" y="44805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with_st9a"/>
          <p:cNvSpPr txBox="1"/>
          <p:nvPr/>
        </p:nvSpPr>
        <p:spPr>
          <a:xfrm>
            <a:off x="352044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MITRE map</a:t>
            </a:r>
          </a:p>
        </p:txBody>
      </p:sp>
      <p:sp>
        <p:nvSpPr>
          <p:cNvPr id="46" name="with_st9b"/>
          <p:cNvSpPr txBox="1"/>
          <p:nvPr/>
        </p:nvSpPr>
        <p:spPr>
          <a:xfrm>
            <a:off x="352044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ATT&amp;CK linkage</a:t>
            </a:r>
          </a:p>
        </p:txBody>
      </p:sp>
      <p:sp>
        <p:nvSpPr>
          <p:cNvPr id="47" name="with_st10"/>
          <p:cNvSpPr/>
          <p:nvPr/>
        </p:nvSpPr>
        <p:spPr>
          <a:xfrm>
            <a:off x="6263640" y="44805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with_with_st10_bar"/>
          <p:cNvSpPr/>
          <p:nvPr/>
        </p:nvSpPr>
        <p:spPr>
          <a:xfrm>
            <a:off x="6263640" y="44805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with_st10a"/>
          <p:cNvSpPr txBox="1"/>
          <p:nvPr/>
        </p:nvSpPr>
        <p:spPr>
          <a:xfrm>
            <a:off x="644652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SOAR</a:t>
            </a:r>
          </a:p>
        </p:txBody>
      </p:sp>
      <p:sp>
        <p:nvSpPr>
          <p:cNvPr id="50" name="with_st10b"/>
          <p:cNvSpPr txBox="1"/>
          <p:nvPr/>
        </p:nvSpPr>
        <p:spPr>
          <a:xfrm>
            <a:off x="644652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Playbook actions</a:t>
            </a:r>
          </a:p>
        </p:txBody>
      </p:sp>
      <p:sp>
        <p:nvSpPr>
          <p:cNvPr id="51" name="with_st11"/>
          <p:cNvSpPr/>
          <p:nvPr/>
        </p:nvSpPr>
        <p:spPr>
          <a:xfrm>
            <a:off x="9189720" y="44805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with_with_st11_bar"/>
          <p:cNvSpPr/>
          <p:nvPr/>
        </p:nvSpPr>
        <p:spPr>
          <a:xfrm>
            <a:off x="9189720" y="4480560"/>
            <a:ext cx="64008" cy="14173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ith_st11a"/>
          <p:cNvSpPr txBox="1"/>
          <p:nvPr/>
        </p:nvSpPr>
        <p:spPr>
          <a:xfrm>
            <a:off x="9372600" y="4709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Reports</a:t>
            </a:r>
          </a:p>
        </p:txBody>
      </p:sp>
      <p:sp>
        <p:nvSpPr>
          <p:cNvPr id="54" name="with_st11b"/>
          <p:cNvSpPr txBox="1"/>
          <p:nvPr/>
        </p:nvSpPr>
        <p:spPr>
          <a:xfrm>
            <a:off x="937260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CSV / JSON export</a:t>
            </a:r>
          </a:p>
        </p:txBody>
      </p:sp>
      <p:sp>
        <p:nvSpPr>
          <p:cNvPr id="55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Stack  ·  AUCE 2026  ·  v1.0.0</a:t>
            </a:r>
          </a:p>
        </p:txBody>
      </p:sp>
      <p:sp>
        <p:nvSpPr>
          <p:cNvPr id="57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12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1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460"/>
                            </p:stCondLst>
                            <p:childTnLst>
                              <p:par>
                                <p:cTn id="64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1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890"/>
                            </p:stCondLst>
                            <p:childTnLst>
                              <p:par>
                                <p:cTn id="115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1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1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1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1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1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1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 animBg="1"/>
      <p:bldP spid="45" grpId="0"/>
      <p:bldP spid="46" grpId="0"/>
      <p:bldP spid="47" grpId="0" animBg="1"/>
      <p:bldP spid="48" grpId="0" animBg="1"/>
      <p:bldP spid="49" grpId="0"/>
      <p:bldP spid="50" grpId="0"/>
      <p:bldP spid="51" grpId="0" animBg="1"/>
      <p:bldP spid="52" grpId="0" animBg="1"/>
      <p:bldP spid="53" grpId="0"/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DASHBOARD PAGES 01–08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Every page, with its job.</a:t>
            </a:r>
          </a:p>
        </p:txBody>
      </p:sp>
      <p:sp>
        <p:nvSpPr>
          <p:cNvPr id="7" name="click_c10"/>
          <p:cNvSpPr/>
          <p:nvPr/>
        </p:nvSpPr>
        <p:spPr>
          <a:xfrm>
            <a:off x="411480" y="1207008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10n"/>
          <p:cNvSpPr txBox="1"/>
          <p:nvPr/>
        </p:nvSpPr>
        <p:spPr>
          <a:xfrm>
            <a:off x="411480" y="12984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01</a:t>
            </a:r>
          </a:p>
        </p:txBody>
      </p:sp>
      <p:sp>
        <p:nvSpPr>
          <p:cNvPr id="9" name="with_c10c"/>
          <p:cNvSpPr/>
          <p:nvPr/>
        </p:nvSpPr>
        <p:spPr>
          <a:xfrm>
            <a:off x="1371600" y="1207008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ith_with_c10c_bar"/>
          <p:cNvSpPr/>
          <p:nvPr/>
        </p:nvSpPr>
        <p:spPr>
          <a:xfrm>
            <a:off x="1371600" y="1207008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ith_c10t"/>
          <p:cNvSpPr txBox="1"/>
          <p:nvPr/>
        </p:nvSpPr>
        <p:spPr>
          <a:xfrm>
            <a:off x="1600200" y="124358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Home</a:t>
            </a:r>
          </a:p>
        </p:txBody>
      </p:sp>
      <p:sp>
        <p:nvSpPr>
          <p:cNvPr id="12" name="with_c10r"/>
          <p:cNvSpPr txBox="1"/>
          <p:nvPr/>
        </p:nvSpPr>
        <p:spPr>
          <a:xfrm>
            <a:off x="4754880" y="129844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SOC pulse: KPIs, charts, shortcuts, recent alerts and blocks</a:t>
            </a:r>
          </a:p>
        </p:txBody>
      </p:sp>
      <p:sp>
        <p:nvSpPr>
          <p:cNvPr id="13" name="click_c11"/>
          <p:cNvSpPr/>
          <p:nvPr/>
        </p:nvSpPr>
        <p:spPr>
          <a:xfrm>
            <a:off x="411480" y="1828800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ith_c11n"/>
          <p:cNvSpPr txBox="1"/>
          <p:nvPr/>
        </p:nvSpPr>
        <p:spPr>
          <a:xfrm>
            <a:off x="411480" y="1920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02</a:t>
            </a:r>
          </a:p>
        </p:txBody>
      </p:sp>
      <p:sp>
        <p:nvSpPr>
          <p:cNvPr id="15" name="with_c11c"/>
          <p:cNvSpPr/>
          <p:nvPr/>
        </p:nvSpPr>
        <p:spPr>
          <a:xfrm>
            <a:off x="1371600" y="1828800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with_c11c_bar"/>
          <p:cNvSpPr/>
          <p:nvPr/>
        </p:nvSpPr>
        <p:spPr>
          <a:xfrm>
            <a:off x="1371600" y="1828800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c11t"/>
          <p:cNvSpPr txBox="1"/>
          <p:nvPr/>
        </p:nvSpPr>
        <p:spPr>
          <a:xfrm>
            <a:off x="1600200" y="186537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Live Monitoring</a:t>
            </a:r>
          </a:p>
        </p:txBody>
      </p:sp>
      <p:sp>
        <p:nvSpPr>
          <p:cNvPr id="18" name="with_c11r"/>
          <p:cNvSpPr txBox="1"/>
          <p:nvPr/>
        </p:nvSpPr>
        <p:spPr>
          <a:xfrm>
            <a:off x="4754880" y="192024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Select NIC, start/stop capture, live-evidence snapshot</a:t>
            </a:r>
          </a:p>
        </p:txBody>
      </p:sp>
      <p:sp>
        <p:nvSpPr>
          <p:cNvPr id="19" name="click_c12"/>
          <p:cNvSpPr/>
          <p:nvPr/>
        </p:nvSpPr>
        <p:spPr>
          <a:xfrm>
            <a:off x="411480" y="2450592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c12n"/>
          <p:cNvSpPr txBox="1"/>
          <p:nvPr/>
        </p:nvSpPr>
        <p:spPr>
          <a:xfrm>
            <a:off x="411480" y="2542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03</a:t>
            </a:r>
          </a:p>
        </p:txBody>
      </p:sp>
      <p:sp>
        <p:nvSpPr>
          <p:cNvPr id="21" name="with_c12c"/>
          <p:cNvSpPr/>
          <p:nvPr/>
        </p:nvSpPr>
        <p:spPr>
          <a:xfrm>
            <a:off x="1371600" y="2450592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ith_with_c12c_bar"/>
          <p:cNvSpPr/>
          <p:nvPr/>
        </p:nvSpPr>
        <p:spPr>
          <a:xfrm>
            <a:off x="1371600" y="2450592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ith_c12t"/>
          <p:cNvSpPr txBox="1"/>
          <p:nvPr/>
        </p:nvSpPr>
        <p:spPr>
          <a:xfrm>
            <a:off x="1600200" y="248716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AI Detection</a:t>
            </a:r>
          </a:p>
        </p:txBody>
      </p:sp>
      <p:sp>
        <p:nvSpPr>
          <p:cNvPr id="24" name="with_c12r"/>
          <p:cNvSpPr txBox="1"/>
          <p:nvPr/>
        </p:nvSpPr>
        <p:spPr>
          <a:xfrm>
            <a:off x="4754880" y="2542032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Hybrid inference, labels, threat score, stored per-flow XAI</a:t>
            </a:r>
          </a:p>
        </p:txBody>
      </p:sp>
      <p:sp>
        <p:nvSpPr>
          <p:cNvPr id="25" name="click_c13"/>
          <p:cNvSpPr/>
          <p:nvPr/>
        </p:nvSpPr>
        <p:spPr>
          <a:xfrm>
            <a:off x="411480" y="3072384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ith_c13n"/>
          <p:cNvSpPr txBox="1"/>
          <p:nvPr/>
        </p:nvSpPr>
        <p:spPr>
          <a:xfrm>
            <a:off x="411480" y="316382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04</a:t>
            </a:r>
          </a:p>
        </p:txBody>
      </p:sp>
      <p:sp>
        <p:nvSpPr>
          <p:cNvPr id="27" name="with_c13c"/>
          <p:cNvSpPr/>
          <p:nvPr/>
        </p:nvSpPr>
        <p:spPr>
          <a:xfrm>
            <a:off x="1371600" y="3072384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ith_with_c13c_bar"/>
          <p:cNvSpPr/>
          <p:nvPr/>
        </p:nvSpPr>
        <p:spPr>
          <a:xfrm>
            <a:off x="1371600" y="3072384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ith_c13t"/>
          <p:cNvSpPr txBox="1"/>
          <p:nvPr/>
        </p:nvSpPr>
        <p:spPr>
          <a:xfrm>
            <a:off x="1600200" y="310896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Threat Simulation</a:t>
            </a:r>
          </a:p>
        </p:txBody>
      </p:sp>
      <p:sp>
        <p:nvSpPr>
          <p:cNvPr id="30" name="with_c13r"/>
          <p:cNvSpPr txBox="1"/>
          <p:nvPr/>
        </p:nvSpPr>
        <p:spPr>
          <a:xfrm>
            <a:off x="4754880" y="3163824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Inject lab campaigns into the same live detection path</a:t>
            </a:r>
          </a:p>
        </p:txBody>
      </p:sp>
      <p:sp>
        <p:nvSpPr>
          <p:cNvPr id="31" name="click_c14"/>
          <p:cNvSpPr/>
          <p:nvPr/>
        </p:nvSpPr>
        <p:spPr>
          <a:xfrm>
            <a:off x="411480" y="3694176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ith_c14n"/>
          <p:cNvSpPr txBox="1"/>
          <p:nvPr/>
        </p:nvSpPr>
        <p:spPr>
          <a:xfrm>
            <a:off x="411480" y="3785615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05</a:t>
            </a:r>
          </a:p>
        </p:txBody>
      </p:sp>
      <p:sp>
        <p:nvSpPr>
          <p:cNvPr id="33" name="with_c14c"/>
          <p:cNvSpPr/>
          <p:nvPr/>
        </p:nvSpPr>
        <p:spPr>
          <a:xfrm>
            <a:off x="1371600" y="3694176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ith_with_c14c_bar"/>
          <p:cNvSpPr/>
          <p:nvPr/>
        </p:nvSpPr>
        <p:spPr>
          <a:xfrm>
            <a:off x="1371600" y="3694176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ith_c14t"/>
          <p:cNvSpPr txBox="1"/>
          <p:nvPr/>
        </p:nvSpPr>
        <p:spPr>
          <a:xfrm>
            <a:off x="1600200" y="373075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Threat Intelligence</a:t>
            </a:r>
          </a:p>
        </p:txBody>
      </p:sp>
      <p:sp>
        <p:nvSpPr>
          <p:cNvPr id="36" name="with_c14r"/>
          <p:cNvSpPr txBox="1"/>
          <p:nvPr/>
        </p:nvSpPr>
        <p:spPr>
          <a:xfrm>
            <a:off x="4754880" y="3785615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IP reputation, geo, stored intel records</a:t>
            </a:r>
          </a:p>
        </p:txBody>
      </p:sp>
      <p:sp>
        <p:nvSpPr>
          <p:cNvPr id="37" name="click_c15"/>
          <p:cNvSpPr/>
          <p:nvPr/>
        </p:nvSpPr>
        <p:spPr>
          <a:xfrm>
            <a:off x="411480" y="4315968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ith_c15n"/>
          <p:cNvSpPr txBox="1"/>
          <p:nvPr/>
        </p:nvSpPr>
        <p:spPr>
          <a:xfrm>
            <a:off x="411480" y="440740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06</a:t>
            </a:r>
          </a:p>
        </p:txBody>
      </p:sp>
      <p:sp>
        <p:nvSpPr>
          <p:cNvPr id="39" name="with_c15c"/>
          <p:cNvSpPr/>
          <p:nvPr/>
        </p:nvSpPr>
        <p:spPr>
          <a:xfrm>
            <a:off x="1371600" y="4315968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ith_with_c15c_bar"/>
          <p:cNvSpPr/>
          <p:nvPr/>
        </p:nvSpPr>
        <p:spPr>
          <a:xfrm>
            <a:off x="1371600" y="4315968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ith_c15t"/>
          <p:cNvSpPr txBox="1"/>
          <p:nvPr/>
        </p:nvSpPr>
        <p:spPr>
          <a:xfrm>
            <a:off x="1600200" y="435254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Alerts</a:t>
            </a:r>
          </a:p>
        </p:txBody>
      </p:sp>
      <p:sp>
        <p:nvSpPr>
          <p:cNvPr id="42" name="with_c15r"/>
          <p:cNvSpPr txBox="1"/>
          <p:nvPr/>
        </p:nvSpPr>
        <p:spPr>
          <a:xfrm>
            <a:off x="4754880" y="440740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Analyst inbox: status, MITRE, true/false-positive notes</a:t>
            </a:r>
          </a:p>
        </p:txBody>
      </p:sp>
      <p:sp>
        <p:nvSpPr>
          <p:cNvPr id="43" name="click_c16"/>
          <p:cNvSpPr/>
          <p:nvPr/>
        </p:nvSpPr>
        <p:spPr>
          <a:xfrm>
            <a:off x="411480" y="4937760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with_c16n"/>
          <p:cNvSpPr txBox="1"/>
          <p:nvPr/>
        </p:nvSpPr>
        <p:spPr>
          <a:xfrm>
            <a:off x="411480" y="50292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07</a:t>
            </a:r>
          </a:p>
        </p:txBody>
      </p:sp>
      <p:sp>
        <p:nvSpPr>
          <p:cNvPr id="45" name="with_c16c"/>
          <p:cNvSpPr/>
          <p:nvPr/>
        </p:nvSpPr>
        <p:spPr>
          <a:xfrm>
            <a:off x="1371600" y="4937760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with_with_c16c_bar"/>
          <p:cNvSpPr/>
          <p:nvPr/>
        </p:nvSpPr>
        <p:spPr>
          <a:xfrm>
            <a:off x="1371600" y="4937760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with_c16t"/>
          <p:cNvSpPr txBox="1"/>
          <p:nvPr/>
        </p:nvSpPr>
        <p:spPr>
          <a:xfrm>
            <a:off x="1600200" y="497433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Blocked IPs</a:t>
            </a:r>
          </a:p>
        </p:txBody>
      </p:sp>
      <p:sp>
        <p:nvSpPr>
          <p:cNvPr id="48" name="with_c16r"/>
          <p:cNvSpPr txBox="1"/>
          <p:nvPr/>
        </p:nvSpPr>
        <p:spPr>
          <a:xfrm>
            <a:off x="4754880" y="502920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Manual and automatic block, reason, unblock</a:t>
            </a:r>
          </a:p>
        </p:txBody>
      </p:sp>
      <p:sp>
        <p:nvSpPr>
          <p:cNvPr id="49" name="click_c17"/>
          <p:cNvSpPr/>
          <p:nvPr/>
        </p:nvSpPr>
        <p:spPr>
          <a:xfrm>
            <a:off x="411480" y="5559552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with_c17n"/>
          <p:cNvSpPr txBox="1"/>
          <p:nvPr/>
        </p:nvSpPr>
        <p:spPr>
          <a:xfrm>
            <a:off x="411480" y="56509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08</a:t>
            </a:r>
          </a:p>
        </p:txBody>
      </p:sp>
      <p:sp>
        <p:nvSpPr>
          <p:cNvPr id="51" name="with_c17c"/>
          <p:cNvSpPr/>
          <p:nvPr/>
        </p:nvSpPr>
        <p:spPr>
          <a:xfrm>
            <a:off x="1371600" y="5559552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with_with_c17c_bar"/>
          <p:cNvSpPr/>
          <p:nvPr/>
        </p:nvSpPr>
        <p:spPr>
          <a:xfrm>
            <a:off x="1371600" y="5559552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ith_c17t"/>
          <p:cNvSpPr txBox="1"/>
          <p:nvPr/>
        </p:nvSpPr>
        <p:spPr>
          <a:xfrm>
            <a:off x="1600200" y="559612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AI Models</a:t>
            </a:r>
          </a:p>
        </p:txBody>
      </p:sp>
      <p:sp>
        <p:nvSpPr>
          <p:cNvPr id="54" name="with_c17r"/>
          <p:cNvSpPr txBox="1"/>
          <p:nvPr/>
        </p:nvSpPr>
        <p:spPr>
          <a:xfrm>
            <a:off x="4754880" y="5650992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Accuracy table, retrain from CSV, online learning status</a:t>
            </a:r>
          </a:p>
        </p:txBody>
      </p:sp>
      <p:sp>
        <p:nvSpPr>
          <p:cNvPr id="55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SOC catalog  ·  AUCE 2026  ·  v1.0.0</a:t>
            </a:r>
          </a:p>
        </p:txBody>
      </p:sp>
      <p:sp>
        <p:nvSpPr>
          <p:cNvPr id="57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13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22" presetClass="entr" presetSubtype="4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460"/>
                            </p:stCondLst>
                            <p:childTnLst>
                              <p:par>
                                <p:cTn id="36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890"/>
                            </p:stCondLst>
                            <p:childTnLst>
                              <p:par>
                                <p:cTn id="59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320"/>
                            </p:stCondLst>
                            <p:childTnLst>
                              <p:par>
                                <p:cTn id="82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750"/>
                            </p:stCondLst>
                            <p:childTnLst>
                              <p:par>
                                <p:cTn id="105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180"/>
                            </p:stCondLst>
                            <p:childTnLst>
                              <p:par>
                                <p:cTn id="128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1610"/>
                            </p:stCondLst>
                            <p:childTnLst>
                              <p:par>
                                <p:cTn id="151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1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1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3040"/>
                            </p:stCondLst>
                            <p:childTnLst>
                              <p:par>
                                <p:cTn id="174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1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1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1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1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1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 animBg="1"/>
      <p:bldP spid="29" grpId="0"/>
      <p:bldP spid="30" grpId="0"/>
      <p:bldP spid="31" grpId="0" animBg="1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/>
      <p:bldP spid="45" grpId="0" animBg="1"/>
      <p:bldP spid="46" grpId="0" animBg="1"/>
      <p:bldP spid="47" grpId="0"/>
      <p:bldP spid="48" grpId="0"/>
      <p:bldP spid="49" grpId="0" animBg="1"/>
      <p:bldP spid="50" grpId="0"/>
      <p:bldP spid="51" grpId="0" animBg="1"/>
      <p:bldP spid="52" grpId="0" animBg="1"/>
      <p:bldP spid="53" grpId="0"/>
      <p:bldP spid="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DASHBOARD PAGES 09–16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Operations, hunting, and response.</a:t>
            </a:r>
          </a:p>
        </p:txBody>
      </p:sp>
      <p:sp>
        <p:nvSpPr>
          <p:cNvPr id="7" name="click_c20"/>
          <p:cNvSpPr/>
          <p:nvPr/>
        </p:nvSpPr>
        <p:spPr>
          <a:xfrm>
            <a:off x="411480" y="1207008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20n"/>
          <p:cNvSpPr txBox="1"/>
          <p:nvPr/>
        </p:nvSpPr>
        <p:spPr>
          <a:xfrm>
            <a:off x="411480" y="12984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09</a:t>
            </a:r>
          </a:p>
        </p:txBody>
      </p:sp>
      <p:sp>
        <p:nvSpPr>
          <p:cNvPr id="9" name="with_c20c"/>
          <p:cNvSpPr/>
          <p:nvPr/>
        </p:nvSpPr>
        <p:spPr>
          <a:xfrm>
            <a:off x="1371600" y="1207008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ith_with_c20c_bar"/>
          <p:cNvSpPr/>
          <p:nvPr/>
        </p:nvSpPr>
        <p:spPr>
          <a:xfrm>
            <a:off x="1371600" y="1207008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ith_c20t"/>
          <p:cNvSpPr txBox="1"/>
          <p:nvPr/>
        </p:nvSpPr>
        <p:spPr>
          <a:xfrm>
            <a:off x="1600200" y="124358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Reports</a:t>
            </a:r>
          </a:p>
        </p:txBody>
      </p:sp>
      <p:sp>
        <p:nvSpPr>
          <p:cNvPr id="12" name="with_c20r"/>
          <p:cNvSpPr txBox="1"/>
          <p:nvPr/>
        </p:nvSpPr>
        <p:spPr>
          <a:xfrm>
            <a:off x="4754880" y="129844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Detection, Incidents, Export, Compliance, Live Evidence</a:t>
            </a:r>
          </a:p>
        </p:txBody>
      </p:sp>
      <p:sp>
        <p:nvSpPr>
          <p:cNvPr id="13" name="click_c21"/>
          <p:cNvSpPr/>
          <p:nvPr/>
        </p:nvSpPr>
        <p:spPr>
          <a:xfrm>
            <a:off x="411480" y="1828800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ith_c21n"/>
          <p:cNvSpPr txBox="1"/>
          <p:nvPr/>
        </p:nvSpPr>
        <p:spPr>
          <a:xfrm>
            <a:off x="411480" y="1920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10</a:t>
            </a:r>
          </a:p>
        </p:txBody>
      </p:sp>
      <p:sp>
        <p:nvSpPr>
          <p:cNvPr id="15" name="with_c21c"/>
          <p:cNvSpPr/>
          <p:nvPr/>
        </p:nvSpPr>
        <p:spPr>
          <a:xfrm>
            <a:off x="1371600" y="1828800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with_c21c_bar"/>
          <p:cNvSpPr/>
          <p:nvPr/>
        </p:nvSpPr>
        <p:spPr>
          <a:xfrm>
            <a:off x="1371600" y="1828800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c21t"/>
          <p:cNvSpPr txBox="1"/>
          <p:nvPr/>
        </p:nvSpPr>
        <p:spPr>
          <a:xfrm>
            <a:off x="1600200" y="186537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Settings</a:t>
            </a:r>
          </a:p>
        </p:txBody>
      </p:sp>
      <p:sp>
        <p:nvSpPr>
          <p:cNvPr id="18" name="with_c21r"/>
          <p:cNvSpPr txBox="1"/>
          <p:nvPr/>
        </p:nvSpPr>
        <p:spPr>
          <a:xfrm>
            <a:off x="4754880" y="192024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General, Telegram, AI Config, NDR/Response, Clear Data, Company</a:t>
            </a:r>
          </a:p>
        </p:txBody>
      </p:sp>
      <p:sp>
        <p:nvSpPr>
          <p:cNvPr id="19" name="click_c22"/>
          <p:cNvSpPr/>
          <p:nvPr/>
        </p:nvSpPr>
        <p:spPr>
          <a:xfrm>
            <a:off x="411480" y="2450592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c22n"/>
          <p:cNvSpPr txBox="1"/>
          <p:nvPr/>
        </p:nvSpPr>
        <p:spPr>
          <a:xfrm>
            <a:off x="411480" y="2542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11</a:t>
            </a:r>
          </a:p>
        </p:txBody>
      </p:sp>
      <p:sp>
        <p:nvSpPr>
          <p:cNvPr id="21" name="with_c22c"/>
          <p:cNvSpPr/>
          <p:nvPr/>
        </p:nvSpPr>
        <p:spPr>
          <a:xfrm>
            <a:off x="1371600" y="2450592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ith_with_c22c_bar"/>
          <p:cNvSpPr/>
          <p:nvPr/>
        </p:nvSpPr>
        <p:spPr>
          <a:xfrm>
            <a:off x="1371600" y="2450592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ith_c22t"/>
          <p:cNvSpPr txBox="1"/>
          <p:nvPr/>
        </p:nvSpPr>
        <p:spPr>
          <a:xfrm>
            <a:off x="1600200" y="248716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SOC Ops</a:t>
            </a:r>
          </a:p>
        </p:txBody>
      </p:sp>
      <p:sp>
        <p:nvSpPr>
          <p:cNvPr id="24" name="with_c22r"/>
          <p:cNvSpPr txBox="1"/>
          <p:nvPr/>
        </p:nvSpPr>
        <p:spPr>
          <a:xfrm>
            <a:off x="4754880" y="2542032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MITRE, SOAR playbooks, online learning, server health, ML registry</a:t>
            </a:r>
          </a:p>
        </p:txBody>
      </p:sp>
      <p:sp>
        <p:nvSpPr>
          <p:cNvPr id="25" name="click_c23"/>
          <p:cNvSpPr/>
          <p:nvPr/>
        </p:nvSpPr>
        <p:spPr>
          <a:xfrm>
            <a:off x="411480" y="3072384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ith_c23n"/>
          <p:cNvSpPr txBox="1"/>
          <p:nvPr/>
        </p:nvSpPr>
        <p:spPr>
          <a:xfrm>
            <a:off x="411480" y="316382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12</a:t>
            </a:r>
          </a:p>
        </p:txBody>
      </p:sp>
      <p:sp>
        <p:nvSpPr>
          <p:cNvPr id="27" name="with_c23c"/>
          <p:cNvSpPr/>
          <p:nvPr/>
        </p:nvSpPr>
        <p:spPr>
          <a:xfrm>
            <a:off x="1371600" y="3072384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ith_with_c23c_bar"/>
          <p:cNvSpPr/>
          <p:nvPr/>
        </p:nvSpPr>
        <p:spPr>
          <a:xfrm>
            <a:off x="1371600" y="3072384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ith_c23t"/>
          <p:cNvSpPr txBox="1"/>
          <p:nvPr/>
        </p:nvSpPr>
        <p:spPr>
          <a:xfrm>
            <a:off x="1600200" y="310896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Incidents</a:t>
            </a:r>
          </a:p>
        </p:txBody>
      </p:sp>
      <p:sp>
        <p:nvSpPr>
          <p:cNvPr id="30" name="with_c23r"/>
          <p:cNvSpPr txBox="1"/>
          <p:nvPr/>
        </p:nvSpPr>
        <p:spPr>
          <a:xfrm>
            <a:off x="4754880" y="3163824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Group related alerts into one case; owner, status, recommendation</a:t>
            </a:r>
          </a:p>
        </p:txBody>
      </p:sp>
      <p:sp>
        <p:nvSpPr>
          <p:cNvPr id="31" name="click_c24"/>
          <p:cNvSpPr/>
          <p:nvPr/>
        </p:nvSpPr>
        <p:spPr>
          <a:xfrm>
            <a:off x="411480" y="3694176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ith_c24n"/>
          <p:cNvSpPr txBox="1"/>
          <p:nvPr/>
        </p:nvSpPr>
        <p:spPr>
          <a:xfrm>
            <a:off x="411480" y="3785615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13</a:t>
            </a:r>
          </a:p>
        </p:txBody>
      </p:sp>
      <p:sp>
        <p:nvSpPr>
          <p:cNvPr id="33" name="with_c24c"/>
          <p:cNvSpPr/>
          <p:nvPr/>
        </p:nvSpPr>
        <p:spPr>
          <a:xfrm>
            <a:off x="1371600" y="3694176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ith_with_c24c_bar"/>
          <p:cNvSpPr/>
          <p:nvPr/>
        </p:nvSpPr>
        <p:spPr>
          <a:xfrm>
            <a:off x="1371600" y="3694176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ith_c24t"/>
          <p:cNvSpPr txBox="1"/>
          <p:nvPr/>
        </p:nvSpPr>
        <p:spPr>
          <a:xfrm>
            <a:off x="1600200" y="373075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Assets</a:t>
            </a:r>
          </a:p>
        </p:txBody>
      </p:sp>
      <p:sp>
        <p:nvSpPr>
          <p:cNvPr id="36" name="with_c24r"/>
          <p:cNvSpPr txBox="1"/>
          <p:nvPr/>
        </p:nvSpPr>
        <p:spPr>
          <a:xfrm>
            <a:off x="4754880" y="3785615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Inventory, risk, topology, host profile, identity / UEBA</a:t>
            </a:r>
          </a:p>
        </p:txBody>
      </p:sp>
      <p:sp>
        <p:nvSpPr>
          <p:cNvPr id="37" name="click_c25"/>
          <p:cNvSpPr/>
          <p:nvPr/>
        </p:nvSpPr>
        <p:spPr>
          <a:xfrm>
            <a:off x="411480" y="4315968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ith_c25n"/>
          <p:cNvSpPr txBox="1"/>
          <p:nvPr/>
        </p:nvSpPr>
        <p:spPr>
          <a:xfrm>
            <a:off x="411480" y="440740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14</a:t>
            </a:r>
          </a:p>
        </p:txBody>
      </p:sp>
      <p:sp>
        <p:nvSpPr>
          <p:cNvPr id="39" name="with_c25c"/>
          <p:cNvSpPr/>
          <p:nvPr/>
        </p:nvSpPr>
        <p:spPr>
          <a:xfrm>
            <a:off x="1371600" y="4315968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ith_with_c25c_bar"/>
          <p:cNvSpPr/>
          <p:nvPr/>
        </p:nvSpPr>
        <p:spPr>
          <a:xfrm>
            <a:off x="1371600" y="4315968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ith_c25t"/>
          <p:cNvSpPr txBox="1"/>
          <p:nvPr/>
        </p:nvSpPr>
        <p:spPr>
          <a:xfrm>
            <a:off x="1600200" y="435254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Hunting</a:t>
            </a:r>
          </a:p>
        </p:txBody>
      </p:sp>
      <p:sp>
        <p:nvSpPr>
          <p:cNvPr id="42" name="with_c25r"/>
          <p:cNvSpPr txBox="1"/>
          <p:nvPr/>
        </p:nvSpPr>
        <p:spPr>
          <a:xfrm>
            <a:off x="4754880" y="440740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Query by IP/attack/protocol; PCAP; DNS/TLS forensics</a:t>
            </a:r>
          </a:p>
        </p:txBody>
      </p:sp>
      <p:sp>
        <p:nvSpPr>
          <p:cNvPr id="43" name="click_c26"/>
          <p:cNvSpPr/>
          <p:nvPr/>
        </p:nvSpPr>
        <p:spPr>
          <a:xfrm>
            <a:off x="411480" y="4937760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with_c26n"/>
          <p:cNvSpPr txBox="1"/>
          <p:nvPr/>
        </p:nvSpPr>
        <p:spPr>
          <a:xfrm>
            <a:off x="411480" y="50292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15</a:t>
            </a:r>
          </a:p>
        </p:txBody>
      </p:sp>
      <p:sp>
        <p:nvSpPr>
          <p:cNvPr id="45" name="with_c26c"/>
          <p:cNvSpPr/>
          <p:nvPr/>
        </p:nvSpPr>
        <p:spPr>
          <a:xfrm>
            <a:off x="1371600" y="4937760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with_with_c26c_bar"/>
          <p:cNvSpPr/>
          <p:nvPr/>
        </p:nvSpPr>
        <p:spPr>
          <a:xfrm>
            <a:off x="1371600" y="4937760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with_c26t"/>
          <p:cNvSpPr txBox="1"/>
          <p:nvPr/>
        </p:nvSpPr>
        <p:spPr>
          <a:xfrm>
            <a:off x="1600200" y="497433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Response</a:t>
            </a:r>
          </a:p>
        </p:txBody>
      </p:sp>
      <p:sp>
        <p:nvSpPr>
          <p:cNvPr id="48" name="with_c26r"/>
          <p:cNvSpPr txBox="1"/>
          <p:nvPr/>
        </p:nvSpPr>
        <p:spPr>
          <a:xfrm>
            <a:off x="4754880" y="502920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IOC, allow/block, approvals, webhooks, distributed sensors</a:t>
            </a:r>
          </a:p>
        </p:txBody>
      </p:sp>
      <p:sp>
        <p:nvSpPr>
          <p:cNvPr id="49" name="click_c27"/>
          <p:cNvSpPr/>
          <p:nvPr/>
        </p:nvSpPr>
        <p:spPr>
          <a:xfrm>
            <a:off x="411480" y="5559552"/>
            <a:ext cx="822960" cy="530352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with_c27n"/>
          <p:cNvSpPr txBox="1"/>
          <p:nvPr/>
        </p:nvSpPr>
        <p:spPr>
          <a:xfrm>
            <a:off x="411480" y="56509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C1A2E"/>
                </a:solidFill>
                <a:latin typeface="Calibri"/>
              </a:rPr>
              <a:t>16</a:t>
            </a:r>
          </a:p>
        </p:txBody>
      </p:sp>
      <p:sp>
        <p:nvSpPr>
          <p:cNvPr id="51" name="with_c27c"/>
          <p:cNvSpPr/>
          <p:nvPr/>
        </p:nvSpPr>
        <p:spPr>
          <a:xfrm>
            <a:off x="1371600" y="5559552"/>
            <a:ext cx="10378440" cy="530352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with_with_c27c_bar"/>
          <p:cNvSpPr/>
          <p:nvPr/>
        </p:nvSpPr>
        <p:spPr>
          <a:xfrm>
            <a:off x="1371600" y="5559552"/>
            <a:ext cx="64008" cy="530352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ith_c27t"/>
          <p:cNvSpPr txBox="1"/>
          <p:nvPr/>
        </p:nvSpPr>
        <p:spPr>
          <a:xfrm>
            <a:off x="1600200" y="559612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Copilot</a:t>
            </a:r>
          </a:p>
        </p:txBody>
      </p:sp>
      <p:sp>
        <p:nvSpPr>
          <p:cNvPr id="54" name="with_c27r"/>
          <p:cNvSpPr txBox="1"/>
          <p:nvPr/>
        </p:nvSpPr>
        <p:spPr>
          <a:xfrm>
            <a:off x="4754880" y="5650992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C9"/>
                </a:solidFill>
                <a:latin typeface="Calibri"/>
              </a:rPr>
              <a:t>Natural-language questions, incident summary, per-alert XAI</a:t>
            </a:r>
          </a:p>
        </p:txBody>
      </p:sp>
      <p:sp>
        <p:nvSpPr>
          <p:cNvPr id="55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SOC catalog  ·  AUCE 2026  ·  v1.0.0</a:t>
            </a:r>
          </a:p>
        </p:txBody>
      </p:sp>
      <p:sp>
        <p:nvSpPr>
          <p:cNvPr id="57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14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460"/>
                            </p:stCondLst>
                            <p:childTnLst>
                              <p:par>
                                <p:cTn id="36" presetID="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890"/>
                            </p:stCondLst>
                            <p:childTnLst>
                              <p:par>
                                <p:cTn id="56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320"/>
                            </p:stCondLst>
                            <p:childTnLst>
                              <p:par>
                                <p:cTn id="76" presetID="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750"/>
                            </p:stCondLst>
                            <p:childTnLst>
                              <p:par>
                                <p:cTn id="96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180"/>
                            </p:stCondLst>
                            <p:childTnLst>
                              <p:par>
                                <p:cTn id="116" presetID="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1610"/>
                            </p:stCondLst>
                            <p:childTnLst>
                              <p:par>
                                <p:cTn id="136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1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1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3040"/>
                            </p:stCondLst>
                            <p:childTnLst>
                              <p:par>
                                <p:cTn id="156" presetID="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1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1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1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1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 animBg="1"/>
      <p:bldP spid="29" grpId="0"/>
      <p:bldP spid="30" grpId="0"/>
      <p:bldP spid="31" grpId="0" animBg="1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/>
      <p:bldP spid="45" grpId="0" animBg="1"/>
      <p:bldP spid="46" grpId="0" animBg="1"/>
      <p:bldP spid="47" grpId="0"/>
      <p:bldP spid="48" grpId="0"/>
      <p:bldP spid="49" grpId="0" animBg="1"/>
      <p:bldP spid="50" grpId="0"/>
      <p:bldP spid="51" grpId="0" animBg="1"/>
      <p:bldP spid="52" grpId="0" animBg="1"/>
      <p:bldP spid="53" grpId="0"/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 01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Login, then the SOC pulse.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Login  ·  v1.0.0  ·  administrator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h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01  Home  ·  KPIs, charts, shortcuts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Live path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15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2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460"/>
                            </p:stCondLst>
                            <p:childTnLst>
                              <p:par>
                                <p:cTn id="24" presetID="2" presetClass="entr" presetSubtype="2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PAGES 02–03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Traffic in. Verdicts out.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l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02  Live Monitoring  ·  interface and flows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detec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03  AI Detection  ·  hybrid inference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Capture &amp; AI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16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460"/>
                            </p:stCondLst>
                            <p:childTnLst>
                              <p:par>
                                <p:cTn id="31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PAGES 04–05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Inject a campaign. Enrich the IP.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si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04  Threat Simulation  ·  lab campaigns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t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05  Threat Intelligence  ·  reputation + geo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Simulation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17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460"/>
                            </p:stCondLst>
                            <p:childTnLst>
                              <p:par>
                                <p:cTn id="28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PAGES 06–07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The inbox and the block list.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aler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06  Alerts  ·  status, MITRE, analyst notes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block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07  Blocked IPs  ·  block and unblock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Alerts &amp; blocks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18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22" presetClass="entr" presetSubtype="4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60"/>
                            </p:stCondLst>
                            <p:childTnLst>
                              <p:par>
                                <p:cTn id="25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PAGES 08–09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Measure the models. Export the proof.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mod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08  AI Models  ·  accuracy, precision, F1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repor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09  Reports  ·  CSV, Live Evidence, compliance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Models &amp; reports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19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460"/>
                            </p:stCondLst>
                            <p:childTnLst>
                              <p:par>
                                <p:cTn id="31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PAGES 10 AND 12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Configure the platform. Case the alerts.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settin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10  Settings  ·  General, Telegram, AI, NDR, Clear, Company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inciden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12  Incidents  ·  cases, owner, status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Settings &amp; incidents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20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1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460"/>
                            </p:stCondLst>
                            <p:childTnLst>
                              <p:par>
                                <p:cTn id="23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PAGES 13–14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Know the host. Hunt the trail.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asse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13  Assets  ·  inventory, topology, host profile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hunt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14  Hunting  ·  hunt, PCAP, DNS/TLS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Assets &amp; hunting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21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30"/>
                            </p:stCondLst>
                            <p:childTnLst>
                              <p:par>
                                <p:cTn id="15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460"/>
                            </p:stCondLst>
                            <p:childTnLst>
                              <p:par>
                                <p:cTn id="27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 11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Map the technique. Run the playbook.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mit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11  SOC Ops  ·  MITRE ATT&amp;CK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so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11  SOC Ops  ·  SOAR playbooks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SOC Ops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22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125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60"/>
                            </p:stCondLst>
                            <p:childTnLst>
                              <p:par>
                                <p:cTn id="2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12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4  ·  PAGES 15–16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Ask why. Then allow, block, or wait.</a:t>
            </a:r>
          </a:p>
        </p:txBody>
      </p:sp>
      <p:sp>
        <p:nvSpPr>
          <p:cNvPr id="7" name="click_a"/>
          <p:cNvSpPr/>
          <p:nvPr/>
        </p:nvSpPr>
        <p:spPr>
          <a:xfrm>
            <a:off x="36576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ith_ap" descr="res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349240" cy="3008948"/>
          </a:xfrm>
          <a:prstGeom prst="rect">
            <a:avLst/>
          </a:prstGeom>
        </p:spPr>
      </p:pic>
      <p:sp>
        <p:nvSpPr>
          <p:cNvPr id="9" name="with_ac"/>
          <p:cNvSpPr txBox="1"/>
          <p:nvPr/>
        </p:nvSpPr>
        <p:spPr>
          <a:xfrm>
            <a:off x="50292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15  Response  ·  IOC, allow, block, sensors</a:t>
            </a:r>
          </a:p>
        </p:txBody>
      </p:sp>
      <p:sp>
        <p:nvSpPr>
          <p:cNvPr id="10" name="click_b"/>
          <p:cNvSpPr/>
          <p:nvPr/>
        </p:nvSpPr>
        <p:spPr>
          <a:xfrm>
            <a:off x="6172200" y="123444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081222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with_bp" descr="copilo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49240" cy="3008948"/>
          </a:xfrm>
          <a:prstGeom prst="rect">
            <a:avLst/>
          </a:prstGeom>
        </p:spPr>
      </p:pic>
      <p:sp>
        <p:nvSpPr>
          <p:cNvPr id="12" name="with_bc"/>
          <p:cNvSpPr txBox="1"/>
          <p:nvPr/>
        </p:nvSpPr>
        <p:spPr>
          <a:xfrm>
            <a:off x="6309360" y="5440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16  Copilot  ·  natural-language assist</a:t>
            </a:r>
          </a:p>
        </p:txBody>
      </p:sp>
      <p:sp>
        <p:nvSpPr>
          <p:cNvPr id="1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Explain &amp; act  ·  AUCE 2026  ·  v1.0.0</a:t>
            </a:r>
          </a:p>
        </p:txBody>
      </p:sp>
      <p:sp>
        <p:nvSpPr>
          <p:cNvPr id="1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23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22" presetClass="entr" presetSubtype="4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1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460"/>
                            </p:stCondLst>
                            <p:childTnLst>
                              <p:par>
                                <p:cTn id="23" presetID="1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decel="5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5  ·  TESTING AND EVALUATION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Table 9 and Table 11. Same measured holdout.</a:t>
            </a:r>
          </a:p>
        </p:txBody>
      </p:sp>
      <p:sp>
        <p:nvSpPr>
          <p:cNvPr id="7" name="click_r1"/>
          <p:cNvSpPr/>
          <p:nvPr/>
        </p:nvSpPr>
        <p:spPr>
          <a:xfrm>
            <a:off x="365760" y="123444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r1_bar"/>
          <p:cNvSpPr/>
          <p:nvPr/>
        </p:nvSpPr>
        <p:spPr>
          <a:xfrm>
            <a:off x="365760" y="1234440"/>
            <a:ext cx="64008" cy="19659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r1a"/>
          <p:cNvSpPr txBox="1"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RANDOM FOREST</a:t>
            </a:r>
          </a:p>
        </p:txBody>
      </p:sp>
      <p:sp>
        <p:nvSpPr>
          <p:cNvPr id="10" name="with_r1b"/>
          <p:cNvSpPr txBox="1"/>
          <p:nvPr/>
        </p:nvSpPr>
        <p:spPr>
          <a:xfrm>
            <a:off x="548640" y="17373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Calibri"/>
              </a:rPr>
              <a:t>97.8%</a:t>
            </a:r>
          </a:p>
        </p:txBody>
      </p:sp>
      <p:sp>
        <p:nvSpPr>
          <p:cNvPr id="11" name="with_r1c"/>
          <p:cNvSpPr txBox="1"/>
          <p:nvPr/>
        </p:nvSpPr>
        <p:spPr>
          <a:xfrm>
            <a:off x="54864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Accuracy &amp; weighted F1</a:t>
            </a:r>
          </a:p>
        </p:txBody>
      </p:sp>
      <p:sp>
        <p:nvSpPr>
          <p:cNvPr id="12" name="click_r2"/>
          <p:cNvSpPr/>
          <p:nvPr/>
        </p:nvSpPr>
        <p:spPr>
          <a:xfrm>
            <a:off x="3291840" y="123444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click_r2_bar"/>
          <p:cNvSpPr/>
          <p:nvPr/>
        </p:nvSpPr>
        <p:spPr>
          <a:xfrm>
            <a:off x="3291840" y="1234440"/>
            <a:ext cx="64008" cy="19659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ith_r2a"/>
          <p:cNvSpPr txBox="1"/>
          <p:nvPr/>
        </p:nvSpPr>
        <p:spPr>
          <a:xfrm>
            <a:off x="34747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XGBOOST</a:t>
            </a:r>
          </a:p>
        </p:txBody>
      </p:sp>
      <p:sp>
        <p:nvSpPr>
          <p:cNvPr id="15" name="with_r2b"/>
          <p:cNvSpPr txBox="1"/>
          <p:nvPr/>
        </p:nvSpPr>
        <p:spPr>
          <a:xfrm>
            <a:off x="3474720" y="17373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Calibri"/>
              </a:rPr>
              <a:t>98.0%</a:t>
            </a:r>
          </a:p>
        </p:txBody>
      </p:sp>
      <p:sp>
        <p:nvSpPr>
          <p:cNvPr id="16" name="with_r2c"/>
          <p:cNvSpPr txBox="1"/>
          <p:nvPr/>
        </p:nvSpPr>
        <p:spPr>
          <a:xfrm>
            <a:off x="347472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Accuracy &amp; weighted F1</a:t>
            </a:r>
          </a:p>
        </p:txBody>
      </p:sp>
      <p:sp>
        <p:nvSpPr>
          <p:cNvPr id="17" name="click_r3"/>
          <p:cNvSpPr/>
          <p:nvPr/>
        </p:nvSpPr>
        <p:spPr>
          <a:xfrm>
            <a:off x="6217920" y="123444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th_click_r3_bar"/>
          <p:cNvSpPr/>
          <p:nvPr/>
        </p:nvSpPr>
        <p:spPr>
          <a:xfrm>
            <a:off x="6217920" y="1234440"/>
            <a:ext cx="64008" cy="19659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ith_r3a"/>
          <p:cNvSpPr txBox="1"/>
          <p:nvPr/>
        </p:nvSpPr>
        <p:spPr>
          <a:xfrm>
            <a:off x="640080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ISOLATION FOREST</a:t>
            </a:r>
          </a:p>
        </p:txBody>
      </p:sp>
      <p:sp>
        <p:nvSpPr>
          <p:cNvPr id="20" name="with_r3b"/>
          <p:cNvSpPr txBox="1"/>
          <p:nvPr/>
        </p:nvSpPr>
        <p:spPr>
          <a:xfrm>
            <a:off x="6400800" y="17373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Calibri"/>
              </a:rPr>
              <a:t>93.9%</a:t>
            </a:r>
          </a:p>
        </p:txBody>
      </p:sp>
      <p:sp>
        <p:nvSpPr>
          <p:cNvPr id="21" name="with_r3c"/>
          <p:cNvSpPr txBox="1"/>
          <p:nvPr/>
        </p:nvSpPr>
        <p:spPr>
          <a:xfrm>
            <a:off x="640080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9"/>
                </a:solidFill>
                <a:latin typeface="Calibri"/>
              </a:rPr>
              <a:t>Normal vs Attack proxy</a:t>
            </a:r>
          </a:p>
        </p:txBody>
      </p:sp>
      <p:sp>
        <p:nvSpPr>
          <p:cNvPr id="22" name="click_r4"/>
          <p:cNvSpPr/>
          <p:nvPr/>
        </p:nvSpPr>
        <p:spPr>
          <a:xfrm>
            <a:off x="9144000" y="1234440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ith_click_r4_bar"/>
          <p:cNvSpPr/>
          <p:nvPr/>
        </p:nvSpPr>
        <p:spPr>
          <a:xfrm>
            <a:off x="9144000" y="1234440"/>
            <a:ext cx="64008" cy="19659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ith_r4a"/>
          <p:cNvSpPr txBox="1"/>
          <p:nvPr/>
        </p:nvSpPr>
        <p:spPr>
          <a:xfrm>
            <a:off x="9326880" y="13716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EVAL SET</a:t>
            </a:r>
          </a:p>
        </p:txBody>
      </p:sp>
      <p:sp>
        <p:nvSpPr>
          <p:cNvPr id="25" name="with_r4b"/>
          <p:cNvSpPr txBox="1"/>
          <p:nvPr/>
        </p:nvSpPr>
        <p:spPr>
          <a:xfrm>
            <a:off x="9326880" y="17373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Calibri"/>
              </a:rPr>
              <a:t>12k</a:t>
            </a:r>
          </a:p>
        </p:txBody>
      </p:sp>
      <p:sp>
        <p:nvSpPr>
          <p:cNvPr id="26" name="with_r4c"/>
          <p:cNvSpPr txBox="1"/>
          <p:nvPr/>
        </p:nvSpPr>
        <p:spPr>
          <a:xfrm>
            <a:off x="9326880" y="24688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B0C9"/>
                </a:solidFill>
                <a:latin typeface="Calibri"/>
              </a:rPr>
              <a:t>rows · 39 features · 6 classes</a:t>
            </a:r>
          </a:p>
        </p:txBody>
      </p:sp>
      <p:pic>
        <p:nvPicPr>
          <p:cNvPr id="27" name="click_chart" descr="fig_model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337560"/>
            <a:ext cx="6766560" cy="3813879"/>
          </a:xfrm>
          <a:prstGeom prst="rect">
            <a:avLst/>
          </a:prstGeom>
        </p:spPr>
      </p:pic>
      <p:sp>
        <p:nvSpPr>
          <p:cNvPr id="28" name="click_disc"/>
          <p:cNvSpPr/>
          <p:nvPr/>
        </p:nvSpPr>
        <p:spPr>
          <a:xfrm>
            <a:off x="7360920" y="3337560"/>
            <a:ext cx="4434840" cy="26060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ith_da"/>
          <p:cNvSpPr txBox="1"/>
          <p:nvPr/>
        </p:nvSpPr>
        <p:spPr>
          <a:xfrm>
            <a:off x="754380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ACADEMIC SCOPE</a:t>
            </a:r>
          </a:p>
        </p:txBody>
      </p:sp>
      <p:sp>
        <p:nvSpPr>
          <p:cNvPr id="30" name="with_db"/>
          <p:cNvSpPr txBox="1"/>
          <p:nvPr/>
        </p:nvSpPr>
        <p:spPr>
          <a:xfrm>
            <a:off x="7543800" y="3886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Same numbers as the paper Table 9 / Table 11. 12,000-row CICIDS-style holdout, 39 features, six classes, 75/25 split, random_state=42. Not an official CICIDS2017 leaderboard. AE/LSTM/Hybrid run in the engine.</a:t>
            </a:r>
          </a:p>
        </p:txBody>
      </p:sp>
      <p:sp>
        <p:nvSpPr>
          <p:cNvPr id="31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Results  ·  AUCE 2026  ·  v1.0.0</a:t>
            </a:r>
          </a:p>
        </p:txBody>
      </p:sp>
      <p:sp>
        <p:nvSpPr>
          <p:cNvPr id="33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24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125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460"/>
                            </p:stCondLst>
                            <p:childTnLst>
                              <p:par>
                                <p:cTn id="35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12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890"/>
                            </p:stCondLst>
                            <p:childTnLst>
                              <p:par>
                                <p:cTn id="54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125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320"/>
                            </p:stCondLst>
                            <p:childTnLst>
                              <p:par>
                                <p:cTn id="73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125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750"/>
                            </p:stCondLst>
                            <p:childTnLst>
                              <p:par>
                                <p:cTn id="92" presetID="53" presetClass="entr" presetSubtype="16" de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180"/>
                            </p:stCondLst>
                            <p:childTnLst>
                              <p:par>
                                <p:cTn id="98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125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8" grpId="0" animBg="1"/>
      <p:bldP spid="29" grpId="0"/>
      <p:bldP spid="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6  ·  STRENGTHS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What this work already does well.</a:t>
            </a:r>
          </a:p>
        </p:txBody>
      </p:sp>
      <p:sp>
        <p:nvSpPr>
          <p:cNvPr id="7" name="click_sk0"/>
          <p:cNvSpPr/>
          <p:nvPr/>
        </p:nvSpPr>
        <p:spPr>
          <a:xfrm>
            <a:off x="411480" y="1280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sk0_bar"/>
          <p:cNvSpPr/>
          <p:nvPr/>
        </p:nvSpPr>
        <p:spPr>
          <a:xfrm>
            <a:off x="411480" y="1280160"/>
            <a:ext cx="64008" cy="21488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sk0t"/>
          <p:cNvSpPr txBox="1"/>
          <p:nvPr/>
        </p:nvSpPr>
        <p:spPr>
          <a:xfrm>
            <a:off x="64008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End-to-end SOC</a:t>
            </a:r>
          </a:p>
        </p:txBody>
      </p:sp>
      <p:sp>
        <p:nvSpPr>
          <p:cNvPr id="10" name="with_sk0b"/>
          <p:cNvSpPr txBox="1"/>
          <p:nvPr/>
        </p:nvSpPr>
        <p:spPr>
          <a:xfrm>
            <a:off x="64008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16 real pages from capture to Copilot — not a mock dashboard.</a:t>
            </a:r>
          </a:p>
        </p:txBody>
      </p:sp>
      <p:sp>
        <p:nvSpPr>
          <p:cNvPr id="11" name="click_sk1"/>
          <p:cNvSpPr/>
          <p:nvPr/>
        </p:nvSpPr>
        <p:spPr>
          <a:xfrm>
            <a:off x="4251960" y="1280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click_sk1_bar"/>
          <p:cNvSpPr/>
          <p:nvPr/>
        </p:nvSpPr>
        <p:spPr>
          <a:xfrm>
            <a:off x="4251960" y="1280160"/>
            <a:ext cx="64008" cy="21488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sk1t"/>
          <p:cNvSpPr txBox="1"/>
          <p:nvPr/>
        </p:nvSpPr>
        <p:spPr>
          <a:xfrm>
            <a:off x="448056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Hybrid AI</a:t>
            </a:r>
          </a:p>
        </p:txBody>
      </p:sp>
      <p:sp>
        <p:nvSpPr>
          <p:cNvPr id="14" name="with_sk1b"/>
          <p:cNvSpPr txBox="1"/>
          <p:nvPr/>
        </p:nvSpPr>
        <p:spPr>
          <a:xfrm>
            <a:off x="448056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RF, XGBoost, Isolation Forest, Autoencoder, LSTM, plus online SGD.</a:t>
            </a:r>
          </a:p>
        </p:txBody>
      </p:sp>
      <p:sp>
        <p:nvSpPr>
          <p:cNvPr id="15" name="click_sk2"/>
          <p:cNvSpPr/>
          <p:nvPr/>
        </p:nvSpPr>
        <p:spPr>
          <a:xfrm>
            <a:off x="8092440" y="1280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click_sk2_bar"/>
          <p:cNvSpPr/>
          <p:nvPr/>
        </p:nvSpPr>
        <p:spPr>
          <a:xfrm>
            <a:off x="8092440" y="1280160"/>
            <a:ext cx="64008" cy="21488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sk2t"/>
          <p:cNvSpPr txBox="1"/>
          <p:nvPr/>
        </p:nvSpPr>
        <p:spPr>
          <a:xfrm>
            <a:off x="832104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Same pipeline</a:t>
            </a:r>
          </a:p>
        </p:txBody>
      </p:sp>
      <p:sp>
        <p:nvSpPr>
          <p:cNvPr id="18" name="with_sk2b"/>
          <p:cNvSpPr txBox="1"/>
          <p:nvPr/>
        </p:nvSpPr>
        <p:spPr>
          <a:xfrm>
            <a:off x="832104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Live traffic and simulated campaigns share detect → alert → respond.</a:t>
            </a:r>
          </a:p>
        </p:txBody>
      </p:sp>
      <p:sp>
        <p:nvSpPr>
          <p:cNvPr id="19" name="click_sk3"/>
          <p:cNvSpPr/>
          <p:nvPr/>
        </p:nvSpPr>
        <p:spPr>
          <a:xfrm>
            <a:off x="411480" y="361187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click_sk3_bar"/>
          <p:cNvSpPr/>
          <p:nvPr/>
        </p:nvSpPr>
        <p:spPr>
          <a:xfrm>
            <a:off x="411480" y="3611879"/>
            <a:ext cx="64008" cy="21488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sk3t"/>
          <p:cNvSpPr txBox="1"/>
          <p:nvPr/>
        </p:nvSpPr>
        <p:spPr>
          <a:xfrm>
            <a:off x="640080" y="38404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Operations</a:t>
            </a:r>
          </a:p>
        </p:txBody>
      </p:sp>
      <p:sp>
        <p:nvSpPr>
          <p:cNvPr id="22" name="with_sk3b"/>
          <p:cNvSpPr txBox="1"/>
          <p:nvPr/>
        </p:nvSpPr>
        <p:spPr>
          <a:xfrm>
            <a:off x="640080" y="4389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MITRE, SOAR, Telegram, stored XAI, Company trial, human-approval mode.</a:t>
            </a:r>
          </a:p>
        </p:txBody>
      </p:sp>
      <p:sp>
        <p:nvSpPr>
          <p:cNvPr id="23" name="click_sk4"/>
          <p:cNvSpPr/>
          <p:nvPr/>
        </p:nvSpPr>
        <p:spPr>
          <a:xfrm>
            <a:off x="4251960" y="361187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ith_click_sk4_bar"/>
          <p:cNvSpPr/>
          <p:nvPr/>
        </p:nvSpPr>
        <p:spPr>
          <a:xfrm>
            <a:off x="4251960" y="3611879"/>
            <a:ext cx="64008" cy="21488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ith_sk4t"/>
          <p:cNvSpPr txBox="1"/>
          <p:nvPr/>
        </p:nvSpPr>
        <p:spPr>
          <a:xfrm>
            <a:off x="4480560" y="38404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Honest science</a:t>
            </a:r>
          </a:p>
        </p:txBody>
      </p:sp>
      <p:sp>
        <p:nvSpPr>
          <p:cNvPr id="26" name="with_sk4b"/>
          <p:cNvSpPr txBox="1"/>
          <p:nvPr/>
        </p:nvSpPr>
        <p:spPr>
          <a:xfrm>
            <a:off x="4480560" y="4389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97.8% RF / 98.0% XGB on a 12k CICIDS-style holdout, with an explicit academic-scope disclaimer.</a:t>
            </a:r>
          </a:p>
        </p:txBody>
      </p:sp>
      <p:sp>
        <p:nvSpPr>
          <p:cNvPr id="27" name="click_sk5"/>
          <p:cNvSpPr/>
          <p:nvPr/>
        </p:nvSpPr>
        <p:spPr>
          <a:xfrm>
            <a:off x="8092440" y="361187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ith_click_sk5_bar"/>
          <p:cNvSpPr/>
          <p:nvPr/>
        </p:nvSpPr>
        <p:spPr>
          <a:xfrm>
            <a:off x="8092440" y="3611879"/>
            <a:ext cx="64008" cy="21488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ith_sk5t"/>
          <p:cNvSpPr txBox="1"/>
          <p:nvPr/>
        </p:nvSpPr>
        <p:spPr>
          <a:xfrm>
            <a:off x="8321040" y="38404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C14B"/>
                </a:solidFill>
                <a:latin typeface="Calibri"/>
              </a:rPr>
              <a:t>Defendable stack</a:t>
            </a:r>
          </a:p>
        </p:txBody>
      </p:sp>
      <p:sp>
        <p:nvSpPr>
          <p:cNvPr id="30" name="with_sk5b"/>
          <p:cNvSpPr txBox="1"/>
          <p:nvPr/>
        </p:nvSpPr>
        <p:spPr>
          <a:xfrm>
            <a:off x="8321040" y="4389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Local FastAPI, Streamlit, SQLite (Postgres optional) — launchable from the desktop.</a:t>
            </a:r>
          </a:p>
        </p:txBody>
      </p:sp>
      <p:sp>
        <p:nvSpPr>
          <p:cNvPr id="31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Strengths  ·  AUCE 2026  ·  v1.0.0</a:t>
            </a:r>
          </a:p>
        </p:txBody>
      </p:sp>
      <p:sp>
        <p:nvSpPr>
          <p:cNvPr id="33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25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60"/>
                            </p:stCondLst>
                            <p:childTnLst>
                              <p:par>
                                <p:cTn id="34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890"/>
                            </p:stCondLst>
                            <p:childTnLst>
                              <p:par>
                                <p:cTn id="52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320"/>
                            </p:stCondLst>
                            <p:childTnLst>
                              <p:par>
                                <p:cTn id="70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750"/>
                            </p:stCondLst>
                            <p:childTnLst>
                              <p:par>
                                <p:cTn id="88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180"/>
                            </p:stCondLst>
                            <p:childTnLst>
                              <p:par>
                                <p:cTn id="106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CONCLUSION  ·  CONTRIBUTIONS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What this project adds.</a:t>
            </a:r>
          </a:p>
        </p:txBody>
      </p:sp>
      <p:sp>
        <p:nvSpPr>
          <p:cNvPr id="7" name="click_c0"/>
          <p:cNvSpPr/>
          <p:nvPr/>
        </p:nvSpPr>
        <p:spPr>
          <a:xfrm>
            <a:off x="411480" y="137160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c0_bar"/>
          <p:cNvSpPr/>
          <p:nvPr/>
        </p:nvSpPr>
        <p:spPr>
          <a:xfrm>
            <a:off x="411480" y="1371600"/>
            <a:ext cx="64008" cy="429768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c0n"/>
          <p:cNvSpPr txBox="1"/>
          <p:nvPr/>
        </p:nvSpPr>
        <p:spPr>
          <a:xfrm>
            <a:off x="594360" y="1645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C14B"/>
                </a:solidFill>
                <a:latin typeface="Calibri"/>
              </a:rPr>
              <a:t>01</a:t>
            </a:r>
          </a:p>
        </p:txBody>
      </p:sp>
      <p:sp>
        <p:nvSpPr>
          <p:cNvPr id="10" name="with_c0t"/>
          <p:cNvSpPr txBox="1"/>
          <p:nvPr/>
        </p:nvSpPr>
        <p:spPr>
          <a:xfrm>
            <a:off x="594360" y="2286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Working NDR 2.0</a:t>
            </a:r>
          </a:p>
        </p:txBody>
      </p:sp>
      <p:sp>
        <p:nvSpPr>
          <p:cNvPr id="11" name="with_c0b"/>
          <p:cNvSpPr txBox="1"/>
          <p:nvPr/>
        </p:nvSpPr>
        <p:spPr>
          <a:xfrm>
            <a:off x="594360" y="34747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A local, versioned SOC product — not a single notebook.</a:t>
            </a:r>
          </a:p>
        </p:txBody>
      </p:sp>
      <p:sp>
        <p:nvSpPr>
          <p:cNvPr id="12" name="click_c1"/>
          <p:cNvSpPr/>
          <p:nvPr/>
        </p:nvSpPr>
        <p:spPr>
          <a:xfrm>
            <a:off x="3337560" y="137160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click_c1_bar"/>
          <p:cNvSpPr/>
          <p:nvPr/>
        </p:nvSpPr>
        <p:spPr>
          <a:xfrm>
            <a:off x="3337560" y="1371600"/>
            <a:ext cx="64008" cy="429768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ith_c1n"/>
          <p:cNvSpPr txBox="1"/>
          <p:nvPr/>
        </p:nvSpPr>
        <p:spPr>
          <a:xfrm>
            <a:off x="3520440" y="1645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C14B"/>
                </a:solidFill>
                <a:latin typeface="Calibri"/>
              </a:rPr>
              <a:t>02</a:t>
            </a:r>
          </a:p>
        </p:txBody>
      </p:sp>
      <p:sp>
        <p:nvSpPr>
          <p:cNvPr id="15" name="with_c1t"/>
          <p:cNvSpPr txBox="1"/>
          <p:nvPr/>
        </p:nvSpPr>
        <p:spPr>
          <a:xfrm>
            <a:off x="3520440" y="2286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Hybrid AI loop</a:t>
            </a:r>
          </a:p>
        </p:txBody>
      </p:sp>
      <p:sp>
        <p:nvSpPr>
          <p:cNvPr id="16" name="with_c1b"/>
          <p:cNvSpPr txBox="1"/>
          <p:nvPr/>
        </p:nvSpPr>
        <p:spPr>
          <a:xfrm>
            <a:off x="3520440" y="34747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Five detectors plus online learning that preserves core models.</a:t>
            </a:r>
          </a:p>
        </p:txBody>
      </p:sp>
      <p:sp>
        <p:nvSpPr>
          <p:cNvPr id="17" name="click_c2"/>
          <p:cNvSpPr/>
          <p:nvPr/>
        </p:nvSpPr>
        <p:spPr>
          <a:xfrm>
            <a:off x="6263640" y="137160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th_click_c2_bar"/>
          <p:cNvSpPr/>
          <p:nvPr/>
        </p:nvSpPr>
        <p:spPr>
          <a:xfrm>
            <a:off x="6263640" y="1371600"/>
            <a:ext cx="64008" cy="429768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ith_c2n"/>
          <p:cNvSpPr txBox="1"/>
          <p:nvPr/>
        </p:nvSpPr>
        <p:spPr>
          <a:xfrm>
            <a:off x="6446520" y="1645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C14B"/>
                </a:solidFill>
                <a:latin typeface="Calibri"/>
              </a:rPr>
              <a:t>03</a:t>
            </a:r>
          </a:p>
        </p:txBody>
      </p:sp>
      <p:sp>
        <p:nvSpPr>
          <p:cNvPr id="20" name="with_c2t"/>
          <p:cNvSpPr txBox="1"/>
          <p:nvPr/>
        </p:nvSpPr>
        <p:spPr>
          <a:xfrm>
            <a:off x="6446520" y="2286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Operations layer</a:t>
            </a:r>
          </a:p>
        </p:txBody>
      </p:sp>
      <p:sp>
        <p:nvSpPr>
          <p:cNvPr id="21" name="with_c2b"/>
          <p:cNvSpPr txBox="1"/>
          <p:nvPr/>
        </p:nvSpPr>
        <p:spPr>
          <a:xfrm>
            <a:off x="6446520" y="34747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MITRE, SOAR, incidents, hunting, Copilot, Telegram, and response control.</a:t>
            </a:r>
          </a:p>
        </p:txBody>
      </p:sp>
      <p:sp>
        <p:nvSpPr>
          <p:cNvPr id="22" name="click_c3"/>
          <p:cNvSpPr/>
          <p:nvPr/>
        </p:nvSpPr>
        <p:spPr>
          <a:xfrm>
            <a:off x="9189720" y="137160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ith_click_c3_bar"/>
          <p:cNvSpPr/>
          <p:nvPr/>
        </p:nvSpPr>
        <p:spPr>
          <a:xfrm>
            <a:off x="9189720" y="1371600"/>
            <a:ext cx="64008" cy="429768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ith_c3n"/>
          <p:cNvSpPr txBox="1"/>
          <p:nvPr/>
        </p:nvSpPr>
        <p:spPr>
          <a:xfrm>
            <a:off x="9372600" y="1645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C14B"/>
                </a:solidFill>
                <a:latin typeface="Calibri"/>
              </a:rPr>
              <a:t>04</a:t>
            </a:r>
          </a:p>
        </p:txBody>
      </p:sp>
      <p:sp>
        <p:nvSpPr>
          <p:cNvPr id="25" name="with_c3t"/>
          <p:cNvSpPr txBox="1"/>
          <p:nvPr/>
        </p:nvSpPr>
        <p:spPr>
          <a:xfrm>
            <a:off x="9372600" y="2286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Honest evaluation</a:t>
            </a:r>
          </a:p>
        </p:txBody>
      </p:sp>
      <p:sp>
        <p:nvSpPr>
          <p:cNvPr id="26" name="with_c3b"/>
          <p:cNvSpPr txBox="1"/>
          <p:nvPr/>
        </p:nvSpPr>
        <p:spPr>
          <a:xfrm>
            <a:off x="9372600" y="34747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B0C9"/>
                </a:solidFill>
                <a:latin typeface="Calibri"/>
              </a:rPr>
              <a:t>12k CICIDS-style holdout, stored XAI, and live-versus-simulation evidence.</a:t>
            </a:r>
          </a:p>
        </p:txBody>
      </p:sp>
      <p:sp>
        <p:nvSpPr>
          <p:cNvPr id="27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Contributions  ·  AUCE 2026  ·  v1.0.0</a:t>
            </a:r>
          </a:p>
        </p:txBody>
      </p:sp>
      <p:sp>
        <p:nvSpPr>
          <p:cNvPr id="29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26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60"/>
                            </p:stCondLst>
                            <p:childTnLst>
                              <p:par>
                                <p:cTn id="34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890"/>
                            </p:stCondLst>
                            <p:childTnLst>
                              <p:par>
                                <p:cTn id="52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320"/>
                            </p:stCondLst>
                            <p:childTnLst>
                              <p:par>
                                <p:cTn id="70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6  ·  LIMITATIONS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Scope we state on purpose.</a:t>
            </a:r>
          </a:p>
        </p:txBody>
      </p:sp>
      <p:sp>
        <p:nvSpPr>
          <p:cNvPr id="7" name="click_lim0"/>
          <p:cNvSpPr/>
          <p:nvPr/>
        </p:nvSpPr>
        <p:spPr>
          <a:xfrm>
            <a:off x="411480" y="123444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lim0_bar"/>
          <p:cNvSpPr/>
          <p:nvPr/>
        </p:nvSpPr>
        <p:spPr>
          <a:xfrm>
            <a:off x="411480" y="1234440"/>
            <a:ext cx="64008" cy="7772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lim0"/>
          <p:cNvSpPr txBox="1"/>
          <p:nvPr/>
        </p:nvSpPr>
        <p:spPr>
          <a:xfrm>
            <a:off x="685800" y="141732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Evaluation uses a 12,000-row CICIDS-style set — not an official CICIDS2017 leaderboard.</a:t>
            </a:r>
          </a:p>
        </p:txBody>
      </p:sp>
      <p:sp>
        <p:nvSpPr>
          <p:cNvPr id="10" name="click_lim1"/>
          <p:cNvSpPr/>
          <p:nvPr/>
        </p:nvSpPr>
        <p:spPr>
          <a:xfrm>
            <a:off x="411480" y="210312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ith_click_lim1_bar"/>
          <p:cNvSpPr/>
          <p:nvPr/>
        </p:nvSpPr>
        <p:spPr>
          <a:xfrm>
            <a:off x="411480" y="2103120"/>
            <a:ext cx="64008" cy="7772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lim1"/>
          <p:cNvSpPr txBox="1"/>
          <p:nvPr/>
        </p:nvSpPr>
        <p:spPr>
          <a:xfrm>
            <a:off x="685800" y="228600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Prototype is local (SQLite default, optional Postgres). It is not a clustered enterprise NDR.</a:t>
            </a:r>
          </a:p>
        </p:txBody>
      </p:sp>
      <p:sp>
        <p:nvSpPr>
          <p:cNvPr id="13" name="click_lim2"/>
          <p:cNvSpPr/>
          <p:nvPr/>
        </p:nvSpPr>
        <p:spPr>
          <a:xfrm>
            <a:off x="411480" y="297180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ith_click_lim2_bar"/>
          <p:cNvSpPr/>
          <p:nvPr/>
        </p:nvSpPr>
        <p:spPr>
          <a:xfrm>
            <a:off x="411480" y="2971800"/>
            <a:ext cx="64008" cy="7772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with_lim2"/>
          <p:cNvSpPr txBox="1"/>
          <p:nvPr/>
        </p:nvSpPr>
        <p:spPr>
          <a:xfrm>
            <a:off x="685800" y="315468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Live capture needs OS permissions and a selected NIC; results depend on that room.</a:t>
            </a:r>
          </a:p>
        </p:txBody>
      </p:sp>
      <p:sp>
        <p:nvSpPr>
          <p:cNvPr id="16" name="click_lim3"/>
          <p:cNvSpPr/>
          <p:nvPr/>
        </p:nvSpPr>
        <p:spPr>
          <a:xfrm>
            <a:off x="411480" y="3840479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click_lim3_bar"/>
          <p:cNvSpPr/>
          <p:nvPr/>
        </p:nvSpPr>
        <p:spPr>
          <a:xfrm>
            <a:off x="411480" y="3840479"/>
            <a:ext cx="64008" cy="7772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th_lim3"/>
          <p:cNvSpPr txBox="1"/>
          <p:nvPr/>
        </p:nvSpPr>
        <p:spPr>
          <a:xfrm>
            <a:off x="685800" y="4023359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Company trial (roles, backup, SIEM hooks) is a laboratory/office pilot, not Active Directory SSO.</a:t>
            </a:r>
          </a:p>
        </p:txBody>
      </p:sp>
      <p:sp>
        <p:nvSpPr>
          <p:cNvPr id="19" name="click_lim4"/>
          <p:cNvSpPr/>
          <p:nvPr/>
        </p:nvSpPr>
        <p:spPr>
          <a:xfrm>
            <a:off x="411480" y="470916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click_lim4_bar"/>
          <p:cNvSpPr/>
          <p:nvPr/>
        </p:nvSpPr>
        <p:spPr>
          <a:xfrm>
            <a:off x="411480" y="4709160"/>
            <a:ext cx="64008" cy="77724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lim4"/>
          <p:cNvSpPr txBox="1"/>
          <p:nvPr/>
        </p:nvSpPr>
        <p:spPr>
          <a:xfrm>
            <a:off x="685800" y="4892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Headline numbers focus on RF / XGBoost / Isolation Forest; AE and LSTM are in the engine.</a:t>
            </a:r>
          </a:p>
        </p:txBody>
      </p:sp>
      <p:sp>
        <p:nvSpPr>
          <p:cNvPr id="22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Limitations  ·  AUCE 2026  ·  v1.0.0</a:t>
            </a:r>
          </a:p>
        </p:txBody>
      </p:sp>
      <p:sp>
        <p:nvSpPr>
          <p:cNvPr id="24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27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460"/>
                            </p:stCondLst>
                            <p:childTnLst>
                              <p:par>
                                <p:cTn id="24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890"/>
                            </p:stCondLst>
                            <p:childTnLst>
                              <p:par>
                                <p:cTn id="35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320"/>
                            </p:stCondLst>
                            <p:childTnLst>
                              <p:par>
                                <p:cTn id="46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750"/>
                            </p:stCondLst>
                            <p:childTnLst>
                              <p:par>
                                <p:cTn id="57" presetID="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8" grpId="0"/>
      <p:bldP spid="19" grpId="0" animBg="1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6  ·  FUTURE WORK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Where this NDR should go next.</a:t>
            </a:r>
          </a:p>
        </p:txBody>
      </p:sp>
      <p:sp>
        <p:nvSpPr>
          <p:cNvPr id="7" name="click_fu0"/>
          <p:cNvSpPr/>
          <p:nvPr/>
        </p:nvSpPr>
        <p:spPr>
          <a:xfrm>
            <a:off x="411480" y="1325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fu0_bar"/>
          <p:cNvSpPr/>
          <p:nvPr/>
        </p:nvSpPr>
        <p:spPr>
          <a:xfrm>
            <a:off x="41148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fu0t"/>
          <p:cNvSpPr txBox="1"/>
          <p:nvPr/>
        </p:nvSpPr>
        <p:spPr>
          <a:xfrm>
            <a:off x="68580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Public benchmarks</a:t>
            </a:r>
          </a:p>
        </p:txBody>
      </p:sp>
      <p:sp>
        <p:nvSpPr>
          <p:cNvPr id="10" name="with_fu0b"/>
          <p:cNvSpPr txBox="1"/>
          <p:nvPr/>
        </p:nvSpPr>
        <p:spPr>
          <a:xfrm>
            <a:off x="685800" y="2194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Retrain and report on full CICIDS2017 and UNSW-NB15 with published splits.</a:t>
            </a:r>
          </a:p>
        </p:txBody>
      </p:sp>
      <p:sp>
        <p:nvSpPr>
          <p:cNvPr id="11" name="click_fu1"/>
          <p:cNvSpPr/>
          <p:nvPr/>
        </p:nvSpPr>
        <p:spPr>
          <a:xfrm>
            <a:off x="6263640" y="1325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ith_click_fu1_bar"/>
          <p:cNvSpPr/>
          <p:nvPr/>
        </p:nvSpPr>
        <p:spPr>
          <a:xfrm>
            <a:off x="6263640" y="1325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fu1t"/>
          <p:cNvSpPr txBox="1"/>
          <p:nvPr/>
        </p:nvSpPr>
        <p:spPr>
          <a:xfrm>
            <a:off x="653796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Explain every hit</a:t>
            </a:r>
          </a:p>
        </p:txBody>
      </p:sp>
      <p:sp>
        <p:nvSpPr>
          <p:cNvPr id="14" name="with_fu1b"/>
          <p:cNvSpPr txBox="1"/>
          <p:nvPr/>
        </p:nvSpPr>
        <p:spPr>
          <a:xfrm>
            <a:off x="6537960" y="2194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Keep stored per-alert XAI; add SHAP plots for high-severity alerts.</a:t>
            </a:r>
          </a:p>
        </p:txBody>
      </p:sp>
      <p:sp>
        <p:nvSpPr>
          <p:cNvPr id="15" name="click_fu2"/>
          <p:cNvSpPr/>
          <p:nvPr/>
        </p:nvSpPr>
        <p:spPr>
          <a:xfrm>
            <a:off x="411480" y="3611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click_fu2_bar"/>
          <p:cNvSpPr/>
          <p:nvPr/>
        </p:nvSpPr>
        <p:spPr>
          <a:xfrm>
            <a:off x="411480" y="3611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fu2t"/>
          <p:cNvSpPr txBox="1"/>
          <p:nvPr/>
        </p:nvSpPr>
        <p:spPr>
          <a:xfrm>
            <a:off x="68580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Sensor fleet</a:t>
            </a:r>
          </a:p>
        </p:txBody>
      </p:sp>
      <p:sp>
        <p:nvSpPr>
          <p:cNvPr id="18" name="with_fu2b"/>
          <p:cNvSpPr txBox="1"/>
          <p:nvPr/>
        </p:nvSpPr>
        <p:spPr>
          <a:xfrm>
            <a:off x="685800" y="4480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SPAN/TAP or multi-host sensors beyond the local NIC and 24/7 capture daemon.</a:t>
            </a:r>
          </a:p>
        </p:txBody>
      </p:sp>
      <p:sp>
        <p:nvSpPr>
          <p:cNvPr id="19" name="click_fu3"/>
          <p:cNvSpPr/>
          <p:nvPr/>
        </p:nvSpPr>
        <p:spPr>
          <a:xfrm>
            <a:off x="6263640" y="36118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click_fu3_bar"/>
          <p:cNvSpPr/>
          <p:nvPr/>
        </p:nvSpPr>
        <p:spPr>
          <a:xfrm>
            <a:off x="6263640" y="3611880"/>
            <a:ext cx="64008" cy="20574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fu3t"/>
          <p:cNvSpPr txBox="1"/>
          <p:nvPr/>
        </p:nvSpPr>
        <p:spPr>
          <a:xfrm>
            <a:off x="653796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C14B"/>
                </a:solidFill>
                <a:latin typeface="Calibri"/>
              </a:rPr>
              <a:t>Hardening</a:t>
            </a:r>
          </a:p>
        </p:txBody>
      </p:sp>
      <p:sp>
        <p:nvSpPr>
          <p:cNvPr id="22" name="with_fu3b"/>
          <p:cNvSpPr txBox="1"/>
          <p:nvPr/>
        </p:nvSpPr>
        <p:spPr>
          <a:xfrm>
            <a:off x="6537960" y="4480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Active Directory SSO and a full container stack — roles, backup, and SIEM hooks already started.</a:t>
            </a:r>
          </a:p>
        </p:txBody>
      </p:sp>
      <p:sp>
        <p:nvSpPr>
          <p:cNvPr id="23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Vision  ·  AUCE 2026  ·  v1.0.0</a:t>
            </a:r>
          </a:p>
        </p:txBody>
      </p:sp>
      <p:sp>
        <p:nvSpPr>
          <p:cNvPr id="25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28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60"/>
                            </p:stCondLst>
                            <p:childTnLst>
                              <p:par>
                                <p:cTn id="29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890"/>
                            </p:stCondLst>
                            <p:childTnLst>
                              <p:par>
                                <p:cTn id="42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320"/>
                            </p:stCondLst>
                            <p:childTnLst>
                              <p:par>
                                <p:cTn id="55" presetID="22" presetClass="entr" presetSubtype="1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CH. 7–8  ·  DEMONSTRATION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Seven clicks the jury should see.</a:t>
            </a:r>
          </a:p>
        </p:txBody>
      </p:sp>
      <p:sp>
        <p:nvSpPr>
          <p:cNvPr id="7" name="click_dm0"/>
          <p:cNvSpPr/>
          <p:nvPr/>
        </p:nvSpPr>
        <p:spPr>
          <a:xfrm>
            <a:off x="411480" y="1325880"/>
            <a:ext cx="2788920" cy="2011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dm0n"/>
          <p:cNvSpPr txBox="1"/>
          <p:nvPr/>
        </p:nvSpPr>
        <p:spPr>
          <a:xfrm>
            <a:off x="594360" y="16002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01</a:t>
            </a:r>
          </a:p>
        </p:txBody>
      </p:sp>
      <p:sp>
        <p:nvSpPr>
          <p:cNvPr id="9" name="with_dm0t"/>
          <p:cNvSpPr txBox="1"/>
          <p:nvPr/>
        </p:nvSpPr>
        <p:spPr>
          <a:xfrm>
            <a:off x="594360" y="2240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Launch run.bat / desktop shortcut</a:t>
            </a:r>
          </a:p>
        </p:txBody>
      </p:sp>
      <p:sp>
        <p:nvSpPr>
          <p:cNvPr id="10" name="click_dm1"/>
          <p:cNvSpPr/>
          <p:nvPr/>
        </p:nvSpPr>
        <p:spPr>
          <a:xfrm>
            <a:off x="3337560" y="1325880"/>
            <a:ext cx="2788920" cy="2011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ith_dm1n"/>
          <p:cNvSpPr txBox="1"/>
          <p:nvPr/>
        </p:nvSpPr>
        <p:spPr>
          <a:xfrm>
            <a:off x="3520440" y="16002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02</a:t>
            </a:r>
          </a:p>
        </p:txBody>
      </p:sp>
      <p:sp>
        <p:nvSpPr>
          <p:cNvPr id="12" name="with_dm1t"/>
          <p:cNvSpPr txBox="1"/>
          <p:nvPr/>
        </p:nvSpPr>
        <p:spPr>
          <a:xfrm>
            <a:off x="3520440" y="2240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Sign in as administrator</a:t>
            </a:r>
          </a:p>
        </p:txBody>
      </p:sp>
      <p:sp>
        <p:nvSpPr>
          <p:cNvPr id="13" name="click_dm2"/>
          <p:cNvSpPr/>
          <p:nvPr/>
        </p:nvSpPr>
        <p:spPr>
          <a:xfrm>
            <a:off x="6263640" y="1325880"/>
            <a:ext cx="2788920" cy="2011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ith_dm2n"/>
          <p:cNvSpPr txBox="1"/>
          <p:nvPr/>
        </p:nvSpPr>
        <p:spPr>
          <a:xfrm>
            <a:off x="6446520" y="16002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03</a:t>
            </a:r>
          </a:p>
        </p:txBody>
      </p:sp>
      <p:sp>
        <p:nvSpPr>
          <p:cNvPr id="15" name="with_dm2t"/>
          <p:cNvSpPr txBox="1"/>
          <p:nvPr/>
        </p:nvSpPr>
        <p:spPr>
          <a:xfrm>
            <a:off x="6446520" y="2240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Start live capture</a:t>
            </a:r>
          </a:p>
        </p:txBody>
      </p:sp>
      <p:sp>
        <p:nvSpPr>
          <p:cNvPr id="16" name="click_dm3"/>
          <p:cNvSpPr/>
          <p:nvPr/>
        </p:nvSpPr>
        <p:spPr>
          <a:xfrm>
            <a:off x="9189720" y="1325880"/>
            <a:ext cx="2788920" cy="2011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th_dm3n"/>
          <p:cNvSpPr txBox="1"/>
          <p:nvPr/>
        </p:nvSpPr>
        <p:spPr>
          <a:xfrm>
            <a:off x="9372600" y="16002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04</a:t>
            </a:r>
          </a:p>
        </p:txBody>
      </p:sp>
      <p:sp>
        <p:nvSpPr>
          <p:cNvPr id="18" name="with_dm3t"/>
          <p:cNvSpPr txBox="1"/>
          <p:nvPr/>
        </p:nvSpPr>
        <p:spPr>
          <a:xfrm>
            <a:off x="9372600" y="2240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Launch a mixed campaign</a:t>
            </a:r>
          </a:p>
        </p:txBody>
      </p:sp>
      <p:sp>
        <p:nvSpPr>
          <p:cNvPr id="19" name="click_dm4"/>
          <p:cNvSpPr/>
          <p:nvPr/>
        </p:nvSpPr>
        <p:spPr>
          <a:xfrm>
            <a:off x="1874519" y="3611880"/>
            <a:ext cx="2788920" cy="2011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dm4n"/>
          <p:cNvSpPr txBox="1"/>
          <p:nvPr/>
        </p:nvSpPr>
        <p:spPr>
          <a:xfrm>
            <a:off x="2057400" y="38862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05</a:t>
            </a:r>
          </a:p>
        </p:txBody>
      </p:sp>
      <p:sp>
        <p:nvSpPr>
          <p:cNvPr id="21" name="with_dm4t"/>
          <p:cNvSpPr txBox="1"/>
          <p:nvPr/>
        </p:nvSpPr>
        <p:spPr>
          <a:xfrm>
            <a:off x="2057400" y="4526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Run hybrid detection</a:t>
            </a:r>
          </a:p>
        </p:txBody>
      </p:sp>
      <p:sp>
        <p:nvSpPr>
          <p:cNvPr id="22" name="click_dm5"/>
          <p:cNvSpPr/>
          <p:nvPr/>
        </p:nvSpPr>
        <p:spPr>
          <a:xfrm>
            <a:off x="4800600" y="3611880"/>
            <a:ext cx="2788920" cy="2011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ith_dm5n"/>
          <p:cNvSpPr txBox="1"/>
          <p:nvPr/>
        </p:nvSpPr>
        <p:spPr>
          <a:xfrm>
            <a:off x="4983480" y="38862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06</a:t>
            </a:r>
          </a:p>
        </p:txBody>
      </p:sp>
      <p:sp>
        <p:nvSpPr>
          <p:cNvPr id="24" name="with_dm5t"/>
          <p:cNvSpPr txBox="1"/>
          <p:nvPr/>
        </p:nvSpPr>
        <p:spPr>
          <a:xfrm>
            <a:off x="4983480" y="4526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Open alert + stored XAI</a:t>
            </a:r>
          </a:p>
        </p:txBody>
      </p:sp>
      <p:sp>
        <p:nvSpPr>
          <p:cNvPr id="25" name="click_dm6"/>
          <p:cNvSpPr/>
          <p:nvPr/>
        </p:nvSpPr>
        <p:spPr>
          <a:xfrm>
            <a:off x="7726679" y="3611880"/>
            <a:ext cx="2788920" cy="201168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 w="15875">
            <a:solidFill>
              <a:srgbClr val="F0C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ith_dm6n"/>
          <p:cNvSpPr txBox="1"/>
          <p:nvPr/>
        </p:nvSpPr>
        <p:spPr>
          <a:xfrm>
            <a:off x="7909559" y="38862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C14B"/>
                </a:solidFill>
                <a:latin typeface="Calibri"/>
              </a:rPr>
              <a:t>07</a:t>
            </a:r>
          </a:p>
        </p:txBody>
      </p:sp>
      <p:sp>
        <p:nvSpPr>
          <p:cNvPr id="27" name="with_dm6t"/>
          <p:cNvSpPr txBox="1"/>
          <p:nvPr/>
        </p:nvSpPr>
        <p:spPr>
          <a:xfrm>
            <a:off x="7909559" y="45262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Block + Telegram + Copilot</a:t>
            </a:r>
          </a:p>
        </p:txBody>
      </p:sp>
      <p:sp>
        <p:nvSpPr>
          <p:cNvPr id="28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Demo path  ·  AUCE 2026  ·  v1.0.0</a:t>
            </a:r>
          </a:p>
        </p:txBody>
      </p:sp>
      <p:sp>
        <p:nvSpPr>
          <p:cNvPr id="30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29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1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30"/>
                            </p:stCondLst>
                            <p:childTnLst>
                              <p:par>
                                <p:cTn id="13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60"/>
                            </p:stCondLst>
                            <p:childTnLst>
                              <p:par>
                                <p:cTn id="25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890"/>
                            </p:stCondLst>
                            <p:childTnLst>
                              <p:par>
                                <p:cTn id="37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320"/>
                            </p:stCondLst>
                            <p:childTnLst>
                              <p:par>
                                <p:cTn id="49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750"/>
                            </p:stCondLst>
                            <p:childTnLst>
                              <p:par>
                                <p:cTn id="61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180"/>
                            </p:stCondLst>
                            <p:childTnLst>
                              <p:par>
                                <p:cTn id="73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610"/>
                            </p:stCondLst>
                            <p:childTnLst>
                              <p:par>
                                <p:cTn id="85" presetID="55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CONCLUSION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A working academic NDR. Measured. Scoped.</a:t>
            </a:r>
          </a:p>
        </p:txBody>
      </p:sp>
      <p:sp>
        <p:nvSpPr>
          <p:cNvPr id="7" name="click_co0"/>
          <p:cNvSpPr/>
          <p:nvPr/>
        </p:nvSpPr>
        <p:spPr>
          <a:xfrm>
            <a:off x="411480" y="1371600"/>
            <a:ext cx="1005840" cy="118872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o0n"/>
          <p:cNvSpPr txBox="1"/>
          <p:nvPr/>
        </p:nvSpPr>
        <p:spPr>
          <a:xfrm>
            <a:off x="411480" y="17373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1A2E"/>
                </a:solidFill>
                <a:latin typeface="Calibri"/>
              </a:rPr>
              <a:t>1</a:t>
            </a:r>
          </a:p>
        </p:txBody>
      </p:sp>
      <p:sp>
        <p:nvSpPr>
          <p:cNvPr id="9" name="with_co0c"/>
          <p:cNvSpPr/>
          <p:nvPr/>
        </p:nvSpPr>
        <p:spPr>
          <a:xfrm>
            <a:off x="1600200" y="1371600"/>
            <a:ext cx="10149840" cy="11887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ith_with_co0c_bar"/>
          <p:cNvSpPr/>
          <p:nvPr/>
        </p:nvSpPr>
        <p:spPr>
          <a:xfrm>
            <a:off x="1600200" y="1371600"/>
            <a:ext cx="64008" cy="11887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ith_co0t"/>
          <p:cNvSpPr txBox="1"/>
          <p:nvPr/>
        </p:nvSpPr>
        <p:spPr>
          <a:xfrm>
            <a:off x="1874519" y="169164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The problem was detecting known and unknown attacks without a full capture–detect–respond loop.</a:t>
            </a:r>
          </a:p>
        </p:txBody>
      </p:sp>
      <p:sp>
        <p:nvSpPr>
          <p:cNvPr id="12" name="click_co1"/>
          <p:cNvSpPr/>
          <p:nvPr/>
        </p:nvSpPr>
        <p:spPr>
          <a:xfrm>
            <a:off x="411480" y="2788920"/>
            <a:ext cx="1005840" cy="118872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with_co1n"/>
          <p:cNvSpPr txBox="1"/>
          <p:nvPr/>
        </p:nvSpPr>
        <p:spPr>
          <a:xfrm>
            <a:off x="411480" y="315467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1A2E"/>
                </a:solidFill>
                <a:latin typeface="Calibri"/>
              </a:rPr>
              <a:t>2</a:t>
            </a:r>
          </a:p>
        </p:txBody>
      </p:sp>
      <p:sp>
        <p:nvSpPr>
          <p:cNvPr id="14" name="with_co1c"/>
          <p:cNvSpPr/>
          <p:nvPr/>
        </p:nvSpPr>
        <p:spPr>
          <a:xfrm>
            <a:off x="1600200" y="2788920"/>
            <a:ext cx="10149840" cy="11887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with_with_co1c_bar"/>
          <p:cNvSpPr/>
          <p:nvPr/>
        </p:nvSpPr>
        <p:spPr>
          <a:xfrm>
            <a:off x="1600200" y="2788920"/>
            <a:ext cx="64008" cy="11887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ith_co1t"/>
          <p:cNvSpPr txBox="1"/>
          <p:nvPr/>
        </p:nvSpPr>
        <p:spPr>
          <a:xfrm>
            <a:off x="1874519" y="310896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The solution is the implemented local NDR: hybrid AI, 16 SOC pages, stored XAI, Telegram, and optional company-trial hardening.</a:t>
            </a:r>
          </a:p>
        </p:txBody>
      </p:sp>
      <p:sp>
        <p:nvSpPr>
          <p:cNvPr id="17" name="click_co2"/>
          <p:cNvSpPr/>
          <p:nvPr/>
        </p:nvSpPr>
        <p:spPr>
          <a:xfrm>
            <a:off x="411480" y="4206240"/>
            <a:ext cx="1005840" cy="1188720"/>
          </a:xfrm>
          <a:prstGeom prst="roundRect">
            <a:avLst>
              <a:gd name="adj" fmla="val 8000"/>
            </a:avLst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th_co2n"/>
          <p:cNvSpPr txBox="1"/>
          <p:nvPr/>
        </p:nvSpPr>
        <p:spPr>
          <a:xfrm>
            <a:off x="411480" y="45720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1A2E"/>
                </a:solidFill>
                <a:latin typeface="Calibri"/>
              </a:rPr>
              <a:t>3</a:t>
            </a:r>
          </a:p>
        </p:txBody>
      </p:sp>
      <p:sp>
        <p:nvSpPr>
          <p:cNvPr id="19" name="with_co2c"/>
          <p:cNvSpPr/>
          <p:nvPr/>
        </p:nvSpPr>
        <p:spPr>
          <a:xfrm>
            <a:off x="1600200" y="4206240"/>
            <a:ext cx="10149840" cy="118872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ith_with_co2c_bar"/>
          <p:cNvSpPr/>
          <p:nvPr/>
        </p:nvSpPr>
        <p:spPr>
          <a:xfrm>
            <a:off x="1600200" y="4206240"/>
            <a:ext cx="64008" cy="118872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ith_co2t"/>
          <p:cNvSpPr txBox="1"/>
          <p:nvPr/>
        </p:nvSpPr>
        <p:spPr>
          <a:xfrm>
            <a:off x="1874519" y="4526279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The evidence is the running system plus Table 11: RF 97.8%, XGB 98.0%, IF 93.9% on a 12,000-row CICIDS-style holdout — not a CICIDS2017 leaderboard.</a:t>
            </a:r>
          </a:p>
        </p:txBody>
      </p:sp>
      <p:sp>
        <p:nvSpPr>
          <p:cNvPr id="22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Conclusion  ·  AUCE 2026  ·  v1.0.0</a:t>
            </a:r>
          </a:p>
        </p:txBody>
      </p:sp>
      <p:sp>
        <p:nvSpPr>
          <p:cNvPr id="24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30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37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125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30"/>
                            </p:stCondLst>
                            <p:childTnLst>
                              <p:par>
                                <p:cTn id="16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60"/>
                            </p:stCondLst>
                            <p:childTnLst>
                              <p:par>
                                <p:cTn id="34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890"/>
                            </p:stCondLst>
                            <p:childTnLst>
                              <p:par>
                                <p:cTn id="52" presetID="53" presetClass="entr" presetSubtype="16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kicker"/>
          <p:cNvSpPr txBox="1"/>
          <p:nvPr/>
        </p:nvSpPr>
        <p:spPr>
          <a:xfrm>
            <a:off x="411480" y="201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14B"/>
                </a:solidFill>
                <a:latin typeface="Calibri"/>
              </a:rPr>
              <a:t>SELECTED REFERENCES</a:t>
            </a:r>
          </a:p>
        </p:txBody>
      </p:sp>
      <p:sp>
        <p:nvSpPr>
          <p:cNvPr id="6" name="auto_title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Sources the jury will recognise.</a:t>
            </a:r>
          </a:p>
        </p:txBody>
      </p:sp>
      <p:sp>
        <p:nvSpPr>
          <p:cNvPr id="7" name="click_ref"/>
          <p:cNvSpPr/>
          <p:nvPr/>
        </p:nvSpPr>
        <p:spPr>
          <a:xfrm>
            <a:off x="411480" y="1280160"/>
            <a:ext cx="11338560" cy="4709160"/>
          </a:xfrm>
          <a:prstGeom prst="roundRect">
            <a:avLst>
              <a:gd name="adj" fmla="val 8000"/>
            </a:avLst>
          </a:prstGeom>
          <a:solidFill>
            <a:srgbClr val="14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ith_click_ref_bar"/>
          <p:cNvSpPr/>
          <p:nvPr/>
        </p:nvSpPr>
        <p:spPr>
          <a:xfrm>
            <a:off x="411480" y="1280160"/>
            <a:ext cx="64008" cy="470916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ith_ref"/>
          <p:cNvSpPr txBox="1"/>
          <p:nvPr/>
        </p:nvSpPr>
        <p:spPr>
          <a:xfrm>
            <a:off x="685800" y="14630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Breiman, L. (2001) Random forests. Machine Learning.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Chen, T. and Guestrin, C. (2016) XGBoost. KDD.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Liu, F.T., Ting, K.M. and Zhou, Z.-H. (2008) Isolation Forest. ICDM.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Sharafaldin et al. CICIDS2017 — Canadian Institute for Cybersecurity.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MITRE ATT&amp;CK® framework. MITRE Corporation.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Scikit-learn, XGBoost, PyTorch, Streamlit, FastAPI documentation.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Full Harvard-style list: AUCE research paper (desktop / appendix).</a:t>
            </a:r>
          </a:p>
        </p:txBody>
      </p:sp>
      <p:sp>
        <p:nvSpPr>
          <p:cNvPr id="10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References  ·  AUCE 2026  ·  v1.0.0</a:t>
            </a:r>
          </a:p>
        </p:txBody>
      </p:sp>
      <p:sp>
        <p:nvSpPr>
          <p:cNvPr id="12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31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push dir="d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42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30"/>
                            </p:stCondLst>
                            <p:childTnLst>
                              <p:par>
                                <p:cTn id="15" presetID="30" presetClass="entr" presetSubtype="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accel="10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top"/>
          <p:cNvSpPr/>
          <p:nvPr/>
        </p:nvSpPr>
        <p:spPr>
          <a:xfrm>
            <a:off x="0" y="0"/>
            <a:ext cx="12191999" cy="36576"/>
          </a:xfrm>
          <a:prstGeom prst="rect">
            <a:avLst/>
          </a:prstGeom>
          <a:solidFill>
            <a:srgbClr val="F0C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uto_logo2" descr="a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51560"/>
            <a:ext cx="1325880" cy="1325880"/>
          </a:xfrm>
          <a:prstGeom prst="rect">
            <a:avLst/>
          </a:prstGeom>
        </p:spPr>
      </p:pic>
      <p:sp>
        <p:nvSpPr>
          <p:cNvPr id="6" name="auto_ty"/>
          <p:cNvSpPr txBox="1"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8FAFC"/>
                </a:solidFill>
                <a:latin typeface="Calibri"/>
              </a:rPr>
              <a:t>Thank you.</a:t>
            </a:r>
          </a:p>
        </p:txBody>
      </p:sp>
      <p:sp>
        <p:nvSpPr>
          <p:cNvPr id="7" name="click_ty1"/>
          <p:cNvSpPr txBox="1"/>
          <p:nvPr/>
        </p:nvSpPr>
        <p:spPr>
          <a:xfrm>
            <a:off x="457200" y="3429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C14B"/>
                </a:solidFill>
                <a:latin typeface="Calibri"/>
              </a:rPr>
              <a:t>Questions, challenges, and live walkthroughs are welcome.</a:t>
            </a:r>
          </a:p>
        </p:txBody>
      </p:sp>
      <p:sp>
        <p:nvSpPr>
          <p:cNvPr id="8" name="click_ty2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BB0C9"/>
                </a:solidFill>
                <a:latin typeface="Calibri"/>
              </a:rPr>
              <a:t>Mahmoud Talal Kanaan  ·  AUCE 2026  ·  AI Network Analyzer v1.0.0</a:t>
            </a:r>
          </a:p>
        </p:txBody>
      </p:sp>
      <p:sp>
        <p:nvSpPr>
          <p:cNvPr id="9" name="click_ty3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B8FF"/>
                </a:solidFill>
                <a:latin typeface="Calibri"/>
              </a:rPr>
              <a:t>Desktop launcher  ·  Dashboard :8501  ·  API :8000</a:t>
            </a:r>
          </a:p>
        </p:txBody>
      </p:sp>
      <p:sp>
        <p:nvSpPr>
          <p:cNvPr id="10" name="chrome_line"/>
          <p:cNvSpPr/>
          <p:nvPr/>
        </p:nvSpPr>
        <p:spPr>
          <a:xfrm>
            <a:off x="365760" y="6565392"/>
            <a:ext cx="11430000" cy="13716"/>
          </a:xfrm>
          <a:prstGeom prst="rect">
            <a:avLst/>
          </a:prstGeom>
          <a:solidFill>
            <a:srgbClr val="2A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rome_f"/>
          <p:cNvSpPr txBox="1"/>
          <p:nvPr/>
        </p:nvSpPr>
        <p:spPr>
          <a:xfrm>
            <a:off x="365760" y="660196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9"/>
                </a:solidFill>
                <a:latin typeface="Calibri"/>
              </a:rPr>
              <a:t>AI Network Analyzer  ·  Q&amp;A  ·  AUCE 2026  ·  v1.0.0</a:t>
            </a:r>
          </a:p>
        </p:txBody>
      </p:sp>
      <p:sp>
        <p:nvSpPr>
          <p:cNvPr id="12" name="chrome_n"/>
          <p:cNvSpPr txBox="1"/>
          <p:nvPr/>
        </p:nvSpPr>
        <p:spPr>
          <a:xfrm>
            <a:off x="1060704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0C14B"/>
                </a:solidFill>
                <a:latin typeface="Calibri"/>
              </a:rPr>
              <a:t>32  / 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5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2" presetClass="entr" presetSubtype="4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30"/>
                            </p:stCondLst>
                            <p:childTnLst>
                              <p:par>
                                <p:cTn id="17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60"/>
                            </p:stCondLst>
                            <p:childTnLst>
                              <p:par>
                                <p:cTn id="25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890"/>
                            </p:stCondLst>
                            <p:childTnLst>
                              <p:par>
                                <p:cTn id="33" presetID="54" presetClass="entr" presetSubtype="0" accel="50000" decel="5000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3094</Words>
  <Application>Microsoft Office PowerPoint</Application>
  <PresentationFormat>Widescreen</PresentationFormat>
  <Paragraphs>429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mohamad</cp:lastModifiedBy>
  <cp:revision>2</cp:revision>
  <dcterms:created xsi:type="dcterms:W3CDTF">2013-01-27T09:14:16Z</dcterms:created>
  <dcterms:modified xsi:type="dcterms:W3CDTF">2026-08-17T21:03:07Z</dcterms:modified>
  <cp:category/>
</cp:coreProperties>
</file>